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Nazanin Bold" charset="1" panose="01000400000000000000"/>
      <p:regular r:id="rId24"/>
    </p:embeddedFont>
    <p:embeddedFont>
      <p:font typeface="Nazanin Light" charset="1" panose="010004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jpeg" Type="http://schemas.openxmlformats.org/officeDocument/2006/relationships/image"/><Relationship Id="rId11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jpeg" Type="http://schemas.openxmlformats.org/officeDocument/2006/relationships/image"/><Relationship Id="rId11" Target="../media/image19.jpe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14" Target="../media/image6.png" Type="http://schemas.openxmlformats.org/officeDocument/2006/relationships/image"/><Relationship Id="rId15" Target="../media/image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6.jpeg" Type="http://schemas.openxmlformats.org/officeDocument/2006/relationships/image"/><Relationship Id="rId9" Target="../media/image17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6.jpeg" Type="http://schemas.openxmlformats.org/officeDocument/2006/relationships/image"/><Relationship Id="rId9" Target="../media/image17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8.jpeg" Type="http://schemas.openxmlformats.org/officeDocument/2006/relationships/image"/><Relationship Id="rId9" Target="../media/image19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42464" y="611864"/>
            <a:ext cx="416836" cy="416836"/>
          </a:xfrm>
          <a:custGeom>
            <a:avLst/>
            <a:gdLst/>
            <a:ahLst/>
            <a:cxnLst/>
            <a:rect r="r" b="b" t="t" l="l"/>
            <a:pathLst>
              <a:path h="416836" w="416836">
                <a:moveTo>
                  <a:pt x="0" y="0"/>
                </a:moveTo>
                <a:lnTo>
                  <a:pt x="416836" y="0"/>
                </a:lnTo>
                <a:lnTo>
                  <a:pt x="416836" y="416836"/>
                </a:lnTo>
                <a:lnTo>
                  <a:pt x="0" y="416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322447" y="5465447"/>
            <a:ext cx="9643106" cy="9643106"/>
          </a:xfrm>
          <a:custGeom>
            <a:avLst/>
            <a:gdLst/>
            <a:ahLst/>
            <a:cxnLst/>
            <a:rect r="r" b="b" t="t" l="l"/>
            <a:pathLst>
              <a:path h="9643106" w="9643106">
                <a:moveTo>
                  <a:pt x="0" y="0"/>
                </a:moveTo>
                <a:lnTo>
                  <a:pt x="9643106" y="0"/>
                </a:lnTo>
                <a:lnTo>
                  <a:pt x="9643106" y="9643106"/>
                </a:lnTo>
                <a:lnTo>
                  <a:pt x="0" y="9643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496932" y="2291124"/>
            <a:ext cx="8389983" cy="8774116"/>
            <a:chOff x="0" y="0"/>
            <a:chExt cx="2209708" cy="23108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9708" cy="2310878"/>
            </a:xfrm>
            <a:custGeom>
              <a:avLst/>
              <a:gdLst/>
              <a:ahLst/>
              <a:cxnLst/>
              <a:rect r="r" b="b" t="t" l="l"/>
              <a:pathLst>
                <a:path h="2310878" w="2209708">
                  <a:moveTo>
                    <a:pt x="46138" y="0"/>
                  </a:moveTo>
                  <a:lnTo>
                    <a:pt x="2163570" y="0"/>
                  </a:lnTo>
                  <a:cubicBezTo>
                    <a:pt x="2189051" y="0"/>
                    <a:pt x="2209708" y="20657"/>
                    <a:pt x="2209708" y="46138"/>
                  </a:cubicBezTo>
                  <a:lnTo>
                    <a:pt x="2209708" y="2264740"/>
                  </a:lnTo>
                  <a:cubicBezTo>
                    <a:pt x="2209708" y="2290222"/>
                    <a:pt x="2189051" y="2310878"/>
                    <a:pt x="2163570" y="2310878"/>
                  </a:cubicBezTo>
                  <a:lnTo>
                    <a:pt x="46138" y="2310878"/>
                  </a:lnTo>
                  <a:cubicBezTo>
                    <a:pt x="20657" y="2310878"/>
                    <a:pt x="0" y="2290222"/>
                    <a:pt x="0" y="2264740"/>
                  </a:cubicBezTo>
                  <a:lnTo>
                    <a:pt x="0" y="46138"/>
                  </a:lnTo>
                  <a:cubicBezTo>
                    <a:pt x="0" y="20657"/>
                    <a:pt x="20657" y="0"/>
                    <a:pt x="46138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61925"/>
              <a:ext cx="2209708" cy="2472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04240" y="2831541"/>
            <a:ext cx="7375367" cy="8233699"/>
            <a:chOff x="0" y="0"/>
            <a:chExt cx="1142637" cy="12756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2637" cy="1275615"/>
            </a:xfrm>
            <a:custGeom>
              <a:avLst/>
              <a:gdLst/>
              <a:ahLst/>
              <a:cxnLst/>
              <a:rect r="r" b="b" t="t" l="l"/>
              <a:pathLst>
                <a:path h="1275615" w="1142637">
                  <a:moveTo>
                    <a:pt x="52485" y="0"/>
                  </a:moveTo>
                  <a:lnTo>
                    <a:pt x="1090152" y="0"/>
                  </a:lnTo>
                  <a:cubicBezTo>
                    <a:pt x="1104072" y="0"/>
                    <a:pt x="1117422" y="5530"/>
                    <a:pt x="1127265" y="15372"/>
                  </a:cubicBezTo>
                  <a:cubicBezTo>
                    <a:pt x="1137108" y="25215"/>
                    <a:pt x="1142637" y="38565"/>
                    <a:pt x="1142637" y="52485"/>
                  </a:cubicBezTo>
                  <a:lnTo>
                    <a:pt x="1142637" y="1223130"/>
                  </a:lnTo>
                  <a:cubicBezTo>
                    <a:pt x="1142637" y="1252117"/>
                    <a:pt x="1119139" y="1275615"/>
                    <a:pt x="1090152" y="1275615"/>
                  </a:cubicBezTo>
                  <a:lnTo>
                    <a:pt x="52485" y="1275615"/>
                  </a:lnTo>
                  <a:cubicBezTo>
                    <a:pt x="23498" y="1275615"/>
                    <a:pt x="0" y="1252117"/>
                    <a:pt x="0" y="1223130"/>
                  </a:cubicBezTo>
                  <a:lnTo>
                    <a:pt x="0" y="52485"/>
                  </a:lnTo>
                  <a:cubicBezTo>
                    <a:pt x="0" y="23498"/>
                    <a:pt x="23498" y="0"/>
                    <a:pt x="52485" y="0"/>
                  </a:cubicBezTo>
                  <a:close/>
                </a:path>
              </a:pathLst>
            </a:custGeom>
            <a:blipFill>
              <a:blip r:embed="rId6"/>
              <a:stretch>
                <a:fillRect l="-33780" t="0" r="-3378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954166" y="737016"/>
            <a:ext cx="3179133" cy="228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5"/>
              </a:lnSpc>
            </a:pPr>
            <a:r>
              <a:rPr lang="en-US" b="true" sz="9662" spc="-628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LADS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42113" y="552279"/>
            <a:ext cx="813226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Contact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78436" y="552279"/>
            <a:ext cx="751945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Home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67106" y="552279"/>
            <a:ext cx="928073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Services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86033" y="552279"/>
            <a:ext cx="923532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About 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31904" y="552279"/>
            <a:ext cx="917404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0576" y="4391788"/>
            <a:ext cx="7690566" cy="562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312"/>
              </a:lnSpc>
            </a:pPr>
            <a:r>
              <a:rPr lang="ar-EG" sz="2299" spc="-64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در فرآیندهای واقعی بانکداری، تصمیم برای اعطای وام فقط یک «بله/خیر» ساده نیست، بلکه ترکیبی از بررسی توان بازپرداخت، سابقه مالی، قوانین سیاستی بانک و مدل‌های پیش‌بینی ریسک است.</a:t>
            </a:r>
          </a:p>
          <a:p>
            <a:pPr algn="r" rtl="true">
              <a:lnSpc>
                <a:spcPts val="3357"/>
              </a:lnSpc>
            </a:pPr>
          </a:p>
          <a:p>
            <a:pPr algn="r">
              <a:lnSpc>
                <a:spcPts val="3357"/>
              </a:lnSpc>
            </a:pPr>
            <a:r>
              <a:rPr lang="en-US" sz="2299" spc="-149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:</a:t>
            </a:r>
            <a:r>
              <a:rPr lang="ar-EG" sz="2299" spc="-149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مشکل اصلی این است که وقتی تعداد متقاضیان زیاد می‌شود</a:t>
            </a:r>
          </a:p>
          <a:p>
            <a:pPr algn="r">
              <a:lnSpc>
                <a:spcPts val="3357"/>
              </a:lnSpc>
            </a:pPr>
          </a:p>
          <a:p>
            <a:pPr algn="r">
              <a:lnSpc>
                <a:spcPts val="3357"/>
              </a:lnSpc>
            </a:pPr>
            <a:r>
              <a:rPr lang="en-US" sz="2299" spc="-149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.</a:t>
            </a:r>
            <a:r>
              <a:rPr lang="ar-EG" sz="2299" spc="-149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تصمیم‌گیری دستی کند، پرخطا و غیرقابل استانداردسازی می‌شود</a:t>
            </a:r>
          </a:p>
          <a:p>
            <a:pPr algn="r">
              <a:lnSpc>
                <a:spcPts val="3357"/>
              </a:lnSpc>
            </a:pPr>
          </a:p>
          <a:p>
            <a:pPr algn="r">
              <a:lnSpc>
                <a:spcPts val="3357"/>
              </a:lnSpc>
            </a:pPr>
            <a:r>
              <a:rPr lang="en-US" sz="2299" spc="-149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.</a:t>
            </a:r>
            <a:r>
              <a:rPr lang="ar-EG" sz="2299" spc="-149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سیاست‌ها و قوانین در ذهن افراد پراکنده‌اند و نتایج غیر یکنواخت می‌شود</a:t>
            </a:r>
          </a:p>
          <a:p>
            <a:pPr algn="r">
              <a:lnSpc>
                <a:spcPts val="3357"/>
              </a:lnSpc>
            </a:pPr>
          </a:p>
          <a:p>
            <a:pPr algn="r">
              <a:lnSpc>
                <a:spcPts val="3357"/>
              </a:lnSpc>
            </a:pPr>
            <a:r>
              <a:rPr lang="en-US" sz="2299" spc="-149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.</a:t>
            </a:r>
            <a:r>
              <a:rPr lang="ar-EG" sz="2299" spc="-149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شفافیت تصمیم (اینکه چرا رد یا قبول شده) سخت می‌شود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7083" y="1875365"/>
            <a:ext cx="6173298" cy="299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0"/>
              </a:lnSpc>
            </a:pPr>
            <a:r>
              <a:rPr lang="en-US" sz="8095" spc="-526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L</a:t>
            </a:r>
            <a:r>
              <a:rPr lang="en-US" sz="8095" spc="-52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oan    </a:t>
            </a:r>
            <a:r>
              <a:rPr lang="en-US" sz="8095" spc="-526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A</a:t>
            </a:r>
            <a:r>
              <a:rPr lang="en-US" sz="8095" spc="-52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pproval </a:t>
            </a:r>
            <a:r>
              <a:rPr lang="en-US" sz="8095" spc="-526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D</a:t>
            </a:r>
            <a:r>
              <a:rPr lang="en-US" sz="8095" spc="-52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ecision     </a:t>
            </a:r>
            <a:r>
              <a:rPr lang="en-US" sz="8095" spc="-526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S</a:t>
            </a:r>
            <a:r>
              <a:rPr lang="en-US" sz="8095" spc="-52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ystem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3378447" y="735752"/>
            <a:ext cx="169060" cy="169060"/>
          </a:xfrm>
          <a:custGeom>
            <a:avLst/>
            <a:gdLst/>
            <a:ahLst/>
            <a:cxnLst/>
            <a:rect r="r" b="b" t="t" l="l"/>
            <a:pathLst>
              <a:path h="169060" w="169060">
                <a:moveTo>
                  <a:pt x="0" y="0"/>
                </a:moveTo>
                <a:lnTo>
                  <a:pt x="169060" y="0"/>
                </a:lnTo>
                <a:lnTo>
                  <a:pt x="169060" y="169060"/>
                </a:lnTo>
                <a:lnTo>
                  <a:pt x="0" y="1690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42464" y="611864"/>
            <a:ext cx="416836" cy="416836"/>
          </a:xfrm>
          <a:custGeom>
            <a:avLst/>
            <a:gdLst/>
            <a:ahLst/>
            <a:cxnLst/>
            <a:rect r="r" b="b" t="t" l="l"/>
            <a:pathLst>
              <a:path h="416836" w="416836">
                <a:moveTo>
                  <a:pt x="0" y="0"/>
                </a:moveTo>
                <a:lnTo>
                  <a:pt x="416836" y="0"/>
                </a:lnTo>
                <a:lnTo>
                  <a:pt x="416836" y="416836"/>
                </a:lnTo>
                <a:lnTo>
                  <a:pt x="0" y="416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809175" y="5163795"/>
            <a:ext cx="9643106" cy="9643106"/>
          </a:xfrm>
          <a:custGeom>
            <a:avLst/>
            <a:gdLst/>
            <a:ahLst/>
            <a:cxnLst/>
            <a:rect r="r" b="b" t="t" l="l"/>
            <a:pathLst>
              <a:path h="9643106" w="9643106">
                <a:moveTo>
                  <a:pt x="0" y="0"/>
                </a:moveTo>
                <a:lnTo>
                  <a:pt x="9643106" y="0"/>
                </a:lnTo>
                <a:lnTo>
                  <a:pt x="9643106" y="9643106"/>
                </a:lnTo>
                <a:lnTo>
                  <a:pt x="0" y="9643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36121" y="4561577"/>
            <a:ext cx="602218" cy="602218"/>
          </a:xfrm>
          <a:custGeom>
            <a:avLst/>
            <a:gdLst/>
            <a:ahLst/>
            <a:cxnLst/>
            <a:rect r="r" b="b" t="t" l="l"/>
            <a:pathLst>
              <a:path h="602218" w="602218">
                <a:moveTo>
                  <a:pt x="0" y="0"/>
                </a:moveTo>
                <a:lnTo>
                  <a:pt x="602218" y="0"/>
                </a:lnTo>
                <a:lnTo>
                  <a:pt x="602218" y="602218"/>
                </a:lnTo>
                <a:lnTo>
                  <a:pt x="0" y="6022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378447" y="735752"/>
            <a:ext cx="169060" cy="169060"/>
          </a:xfrm>
          <a:custGeom>
            <a:avLst/>
            <a:gdLst/>
            <a:ahLst/>
            <a:cxnLst/>
            <a:rect r="r" b="b" t="t" l="l"/>
            <a:pathLst>
              <a:path h="169060" w="169060">
                <a:moveTo>
                  <a:pt x="0" y="0"/>
                </a:moveTo>
                <a:lnTo>
                  <a:pt x="169060" y="0"/>
                </a:lnTo>
                <a:lnTo>
                  <a:pt x="169060" y="169060"/>
                </a:lnTo>
                <a:lnTo>
                  <a:pt x="0" y="1690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76520" y="7023745"/>
            <a:ext cx="2101309" cy="177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799" spc="-181" b="tru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Savings &amp; Checking accounts for all needs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32035" y="9060639"/>
            <a:ext cx="8834546" cy="790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-119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:</a:t>
            </a:r>
            <a:r>
              <a:rPr lang="ar-EG" b="true" sz="2999" spc="-119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تشخیص ورودی نامعتبر/ناسازگار و ارجاع به</a:t>
            </a:r>
            <a:r>
              <a:rPr lang="en-US" b="true" sz="2999" spc="-119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 REVIEW </a:t>
            </a:r>
            <a:r>
              <a:rPr lang="ar-EG" b="true" sz="2999" spc="-119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یا</a:t>
            </a:r>
            <a:r>
              <a:rPr lang="en-US" b="true" sz="2999" spc="-119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 REJECT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61338">
            <a:off x="8577" y="1946363"/>
            <a:ext cx="6409986" cy="7465311"/>
            <a:chOff x="0" y="0"/>
            <a:chExt cx="13561060" cy="15793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8000" y="508000"/>
              <a:ext cx="12052300" cy="14707870"/>
            </a:xfrm>
            <a:custGeom>
              <a:avLst/>
              <a:gdLst/>
              <a:ahLst/>
              <a:cxnLst/>
              <a:rect r="r" b="b" t="t" l="l"/>
              <a:pathLst>
                <a:path h="14707870" w="12052300">
                  <a:moveTo>
                    <a:pt x="10295890" y="14707870"/>
                  </a:moveTo>
                  <a:lnTo>
                    <a:pt x="0" y="13376911"/>
                  </a:lnTo>
                  <a:lnTo>
                    <a:pt x="1756410" y="0"/>
                  </a:lnTo>
                  <a:lnTo>
                    <a:pt x="12052300" y="1330960"/>
                  </a:lnTo>
                  <a:lnTo>
                    <a:pt x="10295890" y="14707870"/>
                  </a:lnTo>
                  <a:close/>
                </a:path>
              </a:pathLst>
            </a:custGeom>
            <a:blipFill>
              <a:blip r:embed="rId10"/>
              <a:stretch>
                <a:fillRect l="-27236" t="0" r="-27236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-21590"/>
              <a:ext cx="13561061" cy="15815310"/>
            </a:xfrm>
            <a:custGeom>
              <a:avLst/>
              <a:gdLst/>
              <a:ahLst/>
              <a:cxnLst/>
              <a:rect r="r" b="b" t="t" l="l"/>
              <a:pathLst>
                <a:path h="15815310" w="13561061">
                  <a:moveTo>
                    <a:pt x="13561061" y="15815310"/>
                  </a:moveTo>
                  <a:lnTo>
                    <a:pt x="0" y="15815310"/>
                  </a:lnTo>
                  <a:lnTo>
                    <a:pt x="0" y="0"/>
                  </a:lnTo>
                  <a:lnTo>
                    <a:pt x="13561061" y="0"/>
                  </a:lnTo>
                  <a:lnTo>
                    <a:pt x="13561061" y="15815310"/>
                  </a:lnTo>
                  <a:close/>
                </a:path>
              </a:pathLst>
            </a:custGeom>
            <a:blipFill>
              <a:blip r:embed="rId11"/>
              <a:stretch>
                <a:fillRect l="0" t="-144" r="0" b="-144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5742113" y="552279"/>
            <a:ext cx="813226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Contact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78436" y="552279"/>
            <a:ext cx="751945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Home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67106" y="552279"/>
            <a:ext cx="928073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Services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86033" y="552279"/>
            <a:ext cx="923532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About Us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31904" y="552279"/>
            <a:ext cx="917404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88067" y="2352232"/>
            <a:ext cx="10350271" cy="2057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83"/>
              </a:lnSpc>
            </a:pPr>
            <a:r>
              <a:rPr lang="ar-EG" b="true" sz="2799" spc="-181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هدف پروژه، ساخت یک سیستم آموزشی/کاربردی است که با گرفتن ورودی متقاضیان از فایل</a:t>
            </a:r>
            <a:r>
              <a:rPr lang="en-US" b="true" sz="2799" spc="-181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 CSV، </a:t>
            </a:r>
            <a:r>
              <a:rPr lang="ar-EG" b="true" sz="2799" spc="-181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ریسک را پیش‌بینی کرده، افراد را گریدبندی کند و در نهایت با توجه به ظرفیت محدود</a:t>
            </a:r>
            <a:r>
              <a:rPr lang="en-US" b="true" sz="2799" spc="-181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 (N </a:t>
            </a:r>
            <a:r>
              <a:rPr lang="ar-EG" b="true" sz="2799" spc="-181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نفر</a:t>
            </a:r>
            <a:r>
              <a:rPr lang="en-US" b="true" sz="2799" spc="-181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)، </a:t>
            </a:r>
            <a:r>
              <a:rPr lang="ar-EG" b="true" sz="2799" spc="-181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هترین افراد را انتخاب کند—همراه با خروجی قابل فهم و نمودار خلاصه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13073" y="475029"/>
            <a:ext cx="4896881" cy="2172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9699"/>
              </a:lnSpc>
            </a:pPr>
            <a:r>
              <a:rPr lang="ar-EG" b="true" sz="9150" spc="-594">
                <a:solidFill>
                  <a:srgbClr val="C9FF72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هدف پروژه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45768" y="4335545"/>
            <a:ext cx="4674626" cy="855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 marL="0" indent="0" lvl="0">
              <a:lnSpc>
                <a:spcPts val="3817"/>
              </a:lnSpc>
              <a:spcBef>
                <a:spcPct val="0"/>
              </a:spcBef>
            </a:pPr>
            <a:r>
              <a:rPr lang="ar-EG" b="true" sz="3601" spc="-234" strike="noStrike" u="none">
                <a:solidFill>
                  <a:srgbClr val="C9FF72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اهداف پروژه به صورت دقیق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991879" y="5132283"/>
            <a:ext cx="2846460" cy="790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spc="-119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Risk Prediction (PD)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33190" y="5160858"/>
            <a:ext cx="7658689" cy="72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pc="-107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   </a:t>
            </a:r>
            <a:r>
              <a:rPr lang="ar-EG" b="true" sz="2699" spc="-107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تخمین احتمال نکول (به صورت عددی) برای هر متقاضی</a:t>
            </a:r>
            <a:r>
              <a:rPr lang="en-US" b="true" sz="2699" spc="-107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    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803452" y="5632805"/>
            <a:ext cx="2034886" cy="790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-119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Grading (A–E)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01320" y="5579959"/>
            <a:ext cx="5802132" cy="790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-119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  </a:t>
            </a:r>
            <a:r>
              <a:rPr lang="ar-EG" b="true" sz="2999" spc="-119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تبدیل خروجی مدل به پنج سطح ریسک</a:t>
            </a:r>
            <a:r>
              <a:rPr lang="en-US" b="true" sz="2999" spc="-119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 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13073" y="6204306"/>
            <a:ext cx="4725266" cy="790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ar-EG" b="true" sz="2999" spc="-119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اعمال قوانین قطعی</a:t>
            </a:r>
            <a:r>
              <a:rPr lang="en-US" b="true" sz="2999" spc="-119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 (Policy Rules)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13073" y="6941168"/>
            <a:ext cx="4725266" cy="1694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811"/>
              </a:lnSpc>
              <a:spcBef>
                <a:spcPct val="0"/>
              </a:spcBef>
            </a:pPr>
            <a:r>
              <a:rPr lang="en-US" b="true" sz="2977" spc="-193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:</a:t>
            </a:r>
            <a:r>
              <a:rPr lang="ar-EG" b="true" sz="2977" spc="-193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ت</a:t>
            </a:r>
            <a:r>
              <a:rPr lang="ar-EG" b="true" sz="2977" spc="-193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عیین وضعیت نهایی با </a:t>
            </a:r>
            <a:r>
              <a:rPr lang="en-US" b="true" sz="2977" spc="-193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4</a:t>
            </a:r>
            <a:r>
              <a:rPr lang="ar-EG" b="true" sz="2977" spc="-193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 حالت</a:t>
            </a:r>
          </a:p>
          <a:p>
            <a:pPr algn="just" marL="0" indent="0" lvl="0">
              <a:lnSpc>
                <a:spcPts val="3683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683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5660735" y="7590321"/>
            <a:ext cx="2078831" cy="790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-119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: </a:t>
            </a:r>
            <a:r>
              <a:rPr lang="en-US" b="true" sz="2999" spc="-119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Explainability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38550" y="7590321"/>
            <a:ext cx="6337156" cy="790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ar-EG" b="true" sz="2999" spc="-119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ارائه دلیل/کد علت رد یا ارجاع به بررسی دستی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536232" y="8327213"/>
            <a:ext cx="1161509" cy="790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-119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: </a:t>
            </a:r>
            <a:r>
              <a:rPr lang="en-US" b="true" sz="2999" spc="-119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Web UI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484650" y="8285647"/>
            <a:ext cx="10051582" cy="790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ar-EG" b="true" sz="2999" spc="-119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رابط کاملاً انگلیسی، دریافت فایل و ظرفیت، خروجی جدول + نمودار آماری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697578" y="9060639"/>
            <a:ext cx="3140761" cy="790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-119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: </a:t>
            </a:r>
            <a:r>
              <a:rPr lang="en-US" b="true" sz="2999" spc="-119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Data Quality Controls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045998" y="6899632"/>
            <a:ext cx="6206620" cy="790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-119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SELECTED / WAITLIST / REVIEW / REJECT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42464" y="611864"/>
            <a:ext cx="416836" cy="416836"/>
          </a:xfrm>
          <a:custGeom>
            <a:avLst/>
            <a:gdLst/>
            <a:ahLst/>
            <a:cxnLst/>
            <a:rect r="r" b="b" t="t" l="l"/>
            <a:pathLst>
              <a:path h="416836" w="416836">
                <a:moveTo>
                  <a:pt x="0" y="0"/>
                </a:moveTo>
                <a:lnTo>
                  <a:pt x="416836" y="0"/>
                </a:lnTo>
                <a:lnTo>
                  <a:pt x="416836" y="416836"/>
                </a:lnTo>
                <a:lnTo>
                  <a:pt x="0" y="416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322447" y="5465447"/>
            <a:ext cx="9643106" cy="9643106"/>
          </a:xfrm>
          <a:custGeom>
            <a:avLst/>
            <a:gdLst/>
            <a:ahLst/>
            <a:cxnLst/>
            <a:rect r="r" b="b" t="t" l="l"/>
            <a:pathLst>
              <a:path h="9643106" w="9643106">
                <a:moveTo>
                  <a:pt x="0" y="0"/>
                </a:moveTo>
                <a:lnTo>
                  <a:pt x="9643106" y="0"/>
                </a:lnTo>
                <a:lnTo>
                  <a:pt x="9643106" y="9643106"/>
                </a:lnTo>
                <a:lnTo>
                  <a:pt x="0" y="9643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571778" y="1465426"/>
            <a:ext cx="6687522" cy="143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1"/>
              </a:lnSpc>
            </a:pPr>
            <a:r>
              <a:rPr lang="ar-EG" sz="6145" spc="-399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داخل محدوده</a:t>
            </a:r>
            <a:r>
              <a:rPr lang="en-US" sz="6145" spc="-399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 (In Scope)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42113" y="552279"/>
            <a:ext cx="813226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Contact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78436" y="552279"/>
            <a:ext cx="751945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67106" y="552279"/>
            <a:ext cx="928073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Services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86033" y="552279"/>
            <a:ext cx="923532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About 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31904" y="552279"/>
            <a:ext cx="917404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378447" y="735752"/>
            <a:ext cx="169060" cy="169060"/>
          </a:xfrm>
          <a:custGeom>
            <a:avLst/>
            <a:gdLst/>
            <a:ahLst/>
            <a:cxnLst/>
            <a:rect r="r" b="b" t="t" l="l"/>
            <a:pathLst>
              <a:path h="169060" w="169060">
                <a:moveTo>
                  <a:pt x="0" y="0"/>
                </a:moveTo>
                <a:lnTo>
                  <a:pt x="169060" y="0"/>
                </a:lnTo>
                <a:lnTo>
                  <a:pt x="169060" y="169060"/>
                </a:lnTo>
                <a:lnTo>
                  <a:pt x="0" y="1690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3915539" y="3636910"/>
            <a:ext cx="3878162" cy="3013180"/>
            <a:chOff x="0" y="0"/>
            <a:chExt cx="1021409" cy="7935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1409" cy="793595"/>
            </a:xfrm>
            <a:custGeom>
              <a:avLst/>
              <a:gdLst/>
              <a:ahLst/>
              <a:cxnLst/>
              <a:rect r="r" b="b" t="t" l="l"/>
              <a:pathLst>
                <a:path h="793595" w="1021409">
                  <a:moveTo>
                    <a:pt x="99814" y="0"/>
                  </a:moveTo>
                  <a:lnTo>
                    <a:pt x="921595" y="0"/>
                  </a:lnTo>
                  <a:cubicBezTo>
                    <a:pt x="976721" y="0"/>
                    <a:pt x="1021409" y="44688"/>
                    <a:pt x="1021409" y="99814"/>
                  </a:cubicBezTo>
                  <a:lnTo>
                    <a:pt x="1021409" y="693780"/>
                  </a:lnTo>
                  <a:cubicBezTo>
                    <a:pt x="1021409" y="720253"/>
                    <a:pt x="1010893" y="745641"/>
                    <a:pt x="992174" y="764360"/>
                  </a:cubicBezTo>
                  <a:cubicBezTo>
                    <a:pt x="973455" y="783079"/>
                    <a:pt x="948067" y="793595"/>
                    <a:pt x="921595" y="793595"/>
                  </a:cubicBezTo>
                  <a:lnTo>
                    <a:pt x="99814" y="793595"/>
                  </a:lnTo>
                  <a:cubicBezTo>
                    <a:pt x="44688" y="793595"/>
                    <a:pt x="0" y="748906"/>
                    <a:pt x="0" y="693780"/>
                  </a:cubicBezTo>
                  <a:lnTo>
                    <a:pt x="0" y="99814"/>
                  </a:lnTo>
                  <a:cubicBezTo>
                    <a:pt x="0" y="44688"/>
                    <a:pt x="44688" y="0"/>
                    <a:pt x="99814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61925"/>
              <a:ext cx="1021409" cy="955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76199" y="1465426"/>
            <a:ext cx="8118981" cy="143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1"/>
              </a:lnSpc>
              <a:spcBef>
                <a:spcPct val="0"/>
              </a:spcBef>
            </a:pPr>
            <a:r>
              <a:rPr lang="ar-EG" sz="6145" spc="-39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خارج از محدوده</a:t>
            </a:r>
            <a:r>
              <a:rPr lang="en-US" sz="6145" spc="-39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 (Out of Scope)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946823" y="3742110"/>
            <a:ext cx="2535274" cy="1153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3625"/>
              </a:lnSpc>
              <a:spcBef>
                <a:spcPct val="0"/>
              </a:spcBef>
            </a:pP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ورودی از فایل </a:t>
            </a:r>
            <a:r>
              <a:rPr lang="en-US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</a:rPr>
              <a:t>CSV</a:t>
            </a: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 یا </a:t>
            </a:r>
          </a:p>
          <a:p>
            <a:pPr algn="r" rtl="true" marL="0" indent="0" lvl="0">
              <a:lnSpc>
                <a:spcPts val="3625"/>
              </a:lnSpc>
              <a:spcBef>
                <a:spcPct val="0"/>
              </a:spcBef>
            </a:pPr>
            <a:r>
              <a:rPr lang="en-US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</a:rPr>
              <a:t>txt</a:t>
            </a: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 با ساختار </a:t>
            </a:r>
            <a:r>
              <a:rPr lang="en-US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</a:rPr>
              <a:t>CSV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915539" y="6966247"/>
            <a:ext cx="3878162" cy="3013180"/>
            <a:chOff x="0" y="0"/>
            <a:chExt cx="1021409" cy="79359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1409" cy="793595"/>
            </a:xfrm>
            <a:custGeom>
              <a:avLst/>
              <a:gdLst/>
              <a:ahLst/>
              <a:cxnLst/>
              <a:rect r="r" b="b" t="t" l="l"/>
              <a:pathLst>
                <a:path h="793595" w="1021409">
                  <a:moveTo>
                    <a:pt x="99814" y="0"/>
                  </a:moveTo>
                  <a:lnTo>
                    <a:pt x="921595" y="0"/>
                  </a:lnTo>
                  <a:cubicBezTo>
                    <a:pt x="976721" y="0"/>
                    <a:pt x="1021409" y="44688"/>
                    <a:pt x="1021409" y="99814"/>
                  </a:cubicBezTo>
                  <a:lnTo>
                    <a:pt x="1021409" y="693780"/>
                  </a:lnTo>
                  <a:cubicBezTo>
                    <a:pt x="1021409" y="720253"/>
                    <a:pt x="1010893" y="745641"/>
                    <a:pt x="992174" y="764360"/>
                  </a:cubicBezTo>
                  <a:cubicBezTo>
                    <a:pt x="973455" y="783079"/>
                    <a:pt x="948067" y="793595"/>
                    <a:pt x="921595" y="793595"/>
                  </a:cubicBezTo>
                  <a:lnTo>
                    <a:pt x="99814" y="793595"/>
                  </a:lnTo>
                  <a:cubicBezTo>
                    <a:pt x="44688" y="793595"/>
                    <a:pt x="0" y="748906"/>
                    <a:pt x="0" y="693780"/>
                  </a:cubicBezTo>
                  <a:lnTo>
                    <a:pt x="0" y="99814"/>
                  </a:lnTo>
                  <a:cubicBezTo>
                    <a:pt x="0" y="44688"/>
                    <a:pt x="44688" y="0"/>
                    <a:pt x="99814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61925"/>
              <a:ext cx="1021409" cy="955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690606" y="3636910"/>
            <a:ext cx="3878162" cy="3013180"/>
            <a:chOff x="0" y="0"/>
            <a:chExt cx="1021409" cy="79359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1409" cy="793595"/>
            </a:xfrm>
            <a:custGeom>
              <a:avLst/>
              <a:gdLst/>
              <a:ahLst/>
              <a:cxnLst/>
              <a:rect r="r" b="b" t="t" l="l"/>
              <a:pathLst>
                <a:path h="793595" w="1021409">
                  <a:moveTo>
                    <a:pt x="99814" y="0"/>
                  </a:moveTo>
                  <a:lnTo>
                    <a:pt x="921595" y="0"/>
                  </a:lnTo>
                  <a:cubicBezTo>
                    <a:pt x="976721" y="0"/>
                    <a:pt x="1021409" y="44688"/>
                    <a:pt x="1021409" y="99814"/>
                  </a:cubicBezTo>
                  <a:lnTo>
                    <a:pt x="1021409" y="693780"/>
                  </a:lnTo>
                  <a:cubicBezTo>
                    <a:pt x="1021409" y="720253"/>
                    <a:pt x="1010893" y="745641"/>
                    <a:pt x="992174" y="764360"/>
                  </a:cubicBezTo>
                  <a:cubicBezTo>
                    <a:pt x="973455" y="783079"/>
                    <a:pt x="948067" y="793595"/>
                    <a:pt x="921595" y="793595"/>
                  </a:cubicBezTo>
                  <a:lnTo>
                    <a:pt x="99814" y="793595"/>
                  </a:lnTo>
                  <a:cubicBezTo>
                    <a:pt x="44688" y="793595"/>
                    <a:pt x="0" y="748906"/>
                    <a:pt x="0" y="693780"/>
                  </a:cubicBezTo>
                  <a:lnTo>
                    <a:pt x="0" y="99814"/>
                  </a:lnTo>
                  <a:cubicBezTo>
                    <a:pt x="0" y="44688"/>
                    <a:pt x="44688" y="0"/>
                    <a:pt x="99814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61925"/>
              <a:ext cx="1021409" cy="955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835689" y="3636910"/>
            <a:ext cx="3878162" cy="3013180"/>
            <a:chOff x="0" y="0"/>
            <a:chExt cx="1021409" cy="79359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1409" cy="793595"/>
            </a:xfrm>
            <a:custGeom>
              <a:avLst/>
              <a:gdLst/>
              <a:ahLst/>
              <a:cxnLst/>
              <a:rect r="r" b="b" t="t" l="l"/>
              <a:pathLst>
                <a:path h="793595" w="1021409">
                  <a:moveTo>
                    <a:pt x="99814" y="0"/>
                  </a:moveTo>
                  <a:lnTo>
                    <a:pt x="921595" y="0"/>
                  </a:lnTo>
                  <a:cubicBezTo>
                    <a:pt x="976721" y="0"/>
                    <a:pt x="1021409" y="44688"/>
                    <a:pt x="1021409" y="99814"/>
                  </a:cubicBezTo>
                  <a:lnTo>
                    <a:pt x="1021409" y="693780"/>
                  </a:lnTo>
                  <a:cubicBezTo>
                    <a:pt x="1021409" y="720253"/>
                    <a:pt x="1010893" y="745641"/>
                    <a:pt x="992174" y="764360"/>
                  </a:cubicBezTo>
                  <a:cubicBezTo>
                    <a:pt x="973455" y="783079"/>
                    <a:pt x="948067" y="793595"/>
                    <a:pt x="921595" y="793595"/>
                  </a:cubicBezTo>
                  <a:lnTo>
                    <a:pt x="99814" y="793595"/>
                  </a:lnTo>
                  <a:cubicBezTo>
                    <a:pt x="44688" y="793595"/>
                    <a:pt x="0" y="748906"/>
                    <a:pt x="0" y="693780"/>
                  </a:cubicBezTo>
                  <a:lnTo>
                    <a:pt x="0" y="99814"/>
                  </a:lnTo>
                  <a:cubicBezTo>
                    <a:pt x="0" y="44688"/>
                    <a:pt x="44688" y="0"/>
                    <a:pt x="9981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61925"/>
              <a:ext cx="1021409" cy="955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41874" y="3636910"/>
            <a:ext cx="3878162" cy="3013180"/>
            <a:chOff x="0" y="0"/>
            <a:chExt cx="1021409" cy="79359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1409" cy="793595"/>
            </a:xfrm>
            <a:custGeom>
              <a:avLst/>
              <a:gdLst/>
              <a:ahLst/>
              <a:cxnLst/>
              <a:rect r="r" b="b" t="t" l="l"/>
              <a:pathLst>
                <a:path h="793595" w="1021409">
                  <a:moveTo>
                    <a:pt x="99814" y="0"/>
                  </a:moveTo>
                  <a:lnTo>
                    <a:pt x="921595" y="0"/>
                  </a:lnTo>
                  <a:cubicBezTo>
                    <a:pt x="976721" y="0"/>
                    <a:pt x="1021409" y="44688"/>
                    <a:pt x="1021409" y="99814"/>
                  </a:cubicBezTo>
                  <a:lnTo>
                    <a:pt x="1021409" y="693780"/>
                  </a:lnTo>
                  <a:cubicBezTo>
                    <a:pt x="1021409" y="720253"/>
                    <a:pt x="1010893" y="745641"/>
                    <a:pt x="992174" y="764360"/>
                  </a:cubicBezTo>
                  <a:cubicBezTo>
                    <a:pt x="973455" y="783079"/>
                    <a:pt x="948067" y="793595"/>
                    <a:pt x="921595" y="793595"/>
                  </a:cubicBezTo>
                  <a:lnTo>
                    <a:pt x="99814" y="793595"/>
                  </a:lnTo>
                  <a:cubicBezTo>
                    <a:pt x="44688" y="793595"/>
                    <a:pt x="0" y="748906"/>
                    <a:pt x="0" y="693780"/>
                  </a:cubicBezTo>
                  <a:lnTo>
                    <a:pt x="0" y="99814"/>
                  </a:lnTo>
                  <a:cubicBezTo>
                    <a:pt x="0" y="44688"/>
                    <a:pt x="44688" y="0"/>
                    <a:pt x="9981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61925"/>
              <a:ext cx="1021409" cy="955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835689" y="6966247"/>
            <a:ext cx="3878162" cy="3013180"/>
            <a:chOff x="0" y="0"/>
            <a:chExt cx="1021409" cy="79359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1409" cy="793595"/>
            </a:xfrm>
            <a:custGeom>
              <a:avLst/>
              <a:gdLst/>
              <a:ahLst/>
              <a:cxnLst/>
              <a:rect r="r" b="b" t="t" l="l"/>
              <a:pathLst>
                <a:path h="793595" w="1021409">
                  <a:moveTo>
                    <a:pt x="99814" y="0"/>
                  </a:moveTo>
                  <a:lnTo>
                    <a:pt x="921595" y="0"/>
                  </a:lnTo>
                  <a:cubicBezTo>
                    <a:pt x="976721" y="0"/>
                    <a:pt x="1021409" y="44688"/>
                    <a:pt x="1021409" y="99814"/>
                  </a:cubicBezTo>
                  <a:lnTo>
                    <a:pt x="1021409" y="693780"/>
                  </a:lnTo>
                  <a:cubicBezTo>
                    <a:pt x="1021409" y="720253"/>
                    <a:pt x="1010893" y="745641"/>
                    <a:pt x="992174" y="764360"/>
                  </a:cubicBezTo>
                  <a:cubicBezTo>
                    <a:pt x="973455" y="783079"/>
                    <a:pt x="948067" y="793595"/>
                    <a:pt x="921595" y="793595"/>
                  </a:cubicBezTo>
                  <a:lnTo>
                    <a:pt x="99814" y="793595"/>
                  </a:lnTo>
                  <a:cubicBezTo>
                    <a:pt x="44688" y="793595"/>
                    <a:pt x="0" y="748906"/>
                    <a:pt x="0" y="693780"/>
                  </a:cubicBezTo>
                  <a:lnTo>
                    <a:pt x="0" y="99814"/>
                  </a:lnTo>
                  <a:cubicBezTo>
                    <a:pt x="0" y="44688"/>
                    <a:pt x="44688" y="0"/>
                    <a:pt x="9981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61925"/>
              <a:ext cx="1021409" cy="955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4282346" y="4838700"/>
            <a:ext cx="3283419" cy="1153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3625"/>
              </a:lnSpc>
              <a:spcBef>
                <a:spcPct val="0"/>
              </a:spcBef>
            </a:pP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محاسبه </a:t>
            </a:r>
            <a:r>
              <a:rPr lang="en-US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</a:rPr>
              <a:t>Monthly Payment</a:t>
            </a: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،</a:t>
            </a:r>
          </a:p>
          <a:p>
            <a:pPr algn="r" rtl="true" marL="0" indent="0" lvl="0">
              <a:lnSpc>
                <a:spcPts val="3625"/>
              </a:lnSpc>
              <a:spcBef>
                <a:spcPct val="0"/>
              </a:spcBef>
            </a:pP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 نسبت‌های </a:t>
            </a:r>
            <a:r>
              <a:rPr lang="en-US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</a:rPr>
              <a:t>DTI</a:t>
            </a: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 و </a:t>
            </a:r>
            <a:r>
              <a:rPr lang="en-US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</a:rPr>
              <a:t>PTI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065002" y="6965882"/>
            <a:ext cx="3579235" cy="618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3205"/>
              </a:lnSpc>
              <a:spcBef>
                <a:spcPct val="0"/>
              </a:spcBef>
            </a:pPr>
            <a:r>
              <a:rPr lang="ar-EG" b="true" sz="2289" spc="-91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مدل پیش‌بینی ریسک (دو حالت):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143475" y="7526859"/>
            <a:ext cx="3422289" cy="1153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3625"/>
              </a:lnSpc>
              <a:spcBef>
                <a:spcPct val="0"/>
              </a:spcBef>
            </a:pP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مدل داخلی (</a:t>
            </a:r>
            <a:r>
              <a:rPr lang="en-US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</a:rPr>
              <a:t>Rule-based + Logistic-like</a:t>
            </a: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922127" y="8548234"/>
            <a:ext cx="3722110" cy="111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3485"/>
              </a:lnSpc>
              <a:spcBef>
                <a:spcPct val="0"/>
              </a:spcBef>
            </a:pPr>
            <a:r>
              <a:rPr lang="ar-EG" b="true" sz="2489" spc="-99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مدل قابل آموزش با داده تاریخی</a:t>
            </a:r>
          </a:p>
          <a:p>
            <a:pPr algn="r" rtl="true" marL="0" indent="0" lvl="0">
              <a:lnSpc>
                <a:spcPts val="3625"/>
              </a:lnSpc>
              <a:spcBef>
                <a:spcPct val="0"/>
              </a:spcBef>
            </a:pP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 (</a:t>
            </a:r>
            <a:r>
              <a:rPr lang="en-US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</a:rPr>
              <a:t>Logistic Regression</a:t>
            </a: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974880" y="3844209"/>
            <a:ext cx="3502602" cy="69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3625"/>
              </a:lnSpc>
              <a:spcBef>
                <a:spcPct val="0"/>
              </a:spcBef>
            </a:pP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گرید </a:t>
            </a:r>
            <a:r>
              <a:rPr lang="en-US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</a:rPr>
              <a:t>A–E</a:t>
            </a: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 و تصمیم </a:t>
            </a:r>
            <a:r>
              <a:rPr lang="en-US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</a:rPr>
              <a:t>4</a:t>
            </a: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 وضعیتی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188652" y="4588066"/>
            <a:ext cx="3288831" cy="69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3625"/>
              </a:lnSpc>
              <a:spcBef>
                <a:spcPct val="0"/>
              </a:spcBef>
            </a:pP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خروجی </a:t>
            </a:r>
            <a:r>
              <a:rPr lang="en-US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</a:rPr>
              <a:t>CSV</a:t>
            </a: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 و نمایش در </a:t>
            </a:r>
            <a:r>
              <a:rPr lang="en-US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</a:rPr>
              <a:t>UI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781891" y="5357495"/>
            <a:ext cx="3695592" cy="634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3345"/>
              </a:lnSpc>
              <a:spcBef>
                <a:spcPct val="0"/>
              </a:spcBef>
            </a:pPr>
            <a:r>
              <a:rPr lang="ar-EG" b="true" sz="2389" spc="-95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نمودار آمار کلی و توزیع وضعیت‌ها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835689" y="3794044"/>
            <a:ext cx="3778178" cy="109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3485"/>
              </a:lnSpc>
              <a:spcBef>
                <a:spcPct val="0"/>
              </a:spcBef>
            </a:pPr>
            <a:r>
              <a:rPr lang="ar-EG" b="true" sz="2489" spc="-99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اتصال به دیتابیس بانکی واقعی یا </a:t>
            </a:r>
          </a:p>
          <a:p>
            <a:pPr algn="r" rtl="true" marL="0" indent="0" lvl="0">
              <a:lnSpc>
                <a:spcPts val="3485"/>
              </a:lnSpc>
              <a:spcBef>
                <a:spcPct val="0"/>
              </a:spcBef>
            </a:pPr>
            <a:r>
              <a:rPr lang="en-US" b="true" sz="2489" spc="-99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</a:rPr>
              <a:t>API</a:t>
            </a:r>
            <a:r>
              <a:rPr lang="ar-EG" b="true" sz="2489" spc="-99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های بانکی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794342" y="4857750"/>
            <a:ext cx="3860872" cy="109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3485"/>
              </a:lnSpc>
              <a:spcBef>
                <a:spcPct val="0"/>
              </a:spcBef>
            </a:pPr>
            <a:r>
              <a:rPr lang="ar-EG" b="true" sz="2489" spc="-99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اعتبارسنجی هویتی، </a:t>
            </a:r>
            <a:r>
              <a:rPr lang="en-US" b="true" sz="2489" spc="-99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</a:rPr>
              <a:t>KYC</a:t>
            </a:r>
            <a:r>
              <a:rPr lang="ar-EG" b="true" sz="2489" spc="-99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 واقعی، </a:t>
            </a:r>
          </a:p>
          <a:p>
            <a:pPr algn="r" rtl="true" marL="0" indent="0" lvl="0">
              <a:lnSpc>
                <a:spcPts val="3485"/>
              </a:lnSpc>
              <a:spcBef>
                <a:spcPct val="0"/>
              </a:spcBef>
            </a:pPr>
            <a:r>
              <a:rPr lang="ar-EG" b="true" sz="2489" spc="-99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یا دسترسی به </a:t>
            </a:r>
            <a:r>
              <a:rPr lang="en-US" b="true" sz="2489" spc="-99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</a:rPr>
              <a:t>Credit Bureau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626913" y="7279209"/>
            <a:ext cx="2986953" cy="1610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3625"/>
              </a:lnSpc>
              <a:spcBef>
                <a:spcPct val="0"/>
              </a:spcBef>
            </a:pPr>
            <a:r>
              <a:rPr lang="ar-EG" b="true" sz="2589" spc="-103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 </a:t>
            </a: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تضمین حقوقی/قضایی </a:t>
            </a:r>
          </a:p>
          <a:p>
            <a:pPr algn="r" rtl="true" marL="0" indent="0" lvl="0">
              <a:lnSpc>
                <a:spcPts val="3625"/>
              </a:lnSpc>
              <a:spcBef>
                <a:spcPct val="0"/>
              </a:spcBef>
            </a:pP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  برای تصمیم‌ها</a:t>
            </a:r>
          </a:p>
          <a:p>
            <a:pPr algn="r" rtl="true" marL="0" indent="0" lvl="0">
              <a:lnSpc>
                <a:spcPts val="3625"/>
              </a:lnSpc>
              <a:spcBef>
                <a:spcPct val="0"/>
              </a:spcBef>
            </a:pP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 (این پروژه آموزشی است)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22730" y="3749186"/>
            <a:ext cx="3516449" cy="2067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3625"/>
              </a:lnSpc>
              <a:spcBef>
                <a:spcPct val="0"/>
              </a:spcBef>
            </a:pP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مدل‌های بسیار پیچیده مثل </a:t>
            </a:r>
            <a:r>
              <a:rPr lang="en-US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</a:rPr>
              <a:t>XGBoost/NN</a:t>
            </a:r>
            <a:r>
              <a:rPr lang="ar-EG" b="true" sz="2589" spc="-103" strike="noStrike" u="none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 (قابل توسعه است اما فعلاً هدف سادگی و شفافیت بوده)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42464" y="611864"/>
            <a:ext cx="416836" cy="416836"/>
          </a:xfrm>
          <a:custGeom>
            <a:avLst/>
            <a:gdLst/>
            <a:ahLst/>
            <a:cxnLst/>
            <a:rect r="r" b="b" t="t" l="l"/>
            <a:pathLst>
              <a:path h="416836" w="416836">
                <a:moveTo>
                  <a:pt x="0" y="0"/>
                </a:moveTo>
                <a:lnTo>
                  <a:pt x="416836" y="0"/>
                </a:lnTo>
                <a:lnTo>
                  <a:pt x="416836" y="416836"/>
                </a:lnTo>
                <a:lnTo>
                  <a:pt x="0" y="416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21454" y="5463147"/>
            <a:ext cx="4848887" cy="1232029"/>
            <a:chOff x="0" y="0"/>
            <a:chExt cx="1277073" cy="3244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419143" y="5465447"/>
            <a:ext cx="9643106" cy="9643106"/>
          </a:xfrm>
          <a:custGeom>
            <a:avLst/>
            <a:gdLst/>
            <a:ahLst/>
            <a:cxnLst/>
            <a:rect r="r" b="b" t="t" l="l"/>
            <a:pathLst>
              <a:path h="9643106" w="9643106">
                <a:moveTo>
                  <a:pt x="0" y="0"/>
                </a:moveTo>
                <a:lnTo>
                  <a:pt x="9643106" y="0"/>
                </a:lnTo>
                <a:lnTo>
                  <a:pt x="9643106" y="9643106"/>
                </a:lnTo>
                <a:lnTo>
                  <a:pt x="0" y="9643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931741" y="3223641"/>
            <a:ext cx="4119141" cy="16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385"/>
              </a:lnSpc>
            </a:pPr>
            <a:r>
              <a:rPr lang="en-US" sz="7101" spc="-461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Data Pipeline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42113" y="552279"/>
            <a:ext cx="813226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78436" y="552279"/>
            <a:ext cx="751945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67106" y="552279"/>
            <a:ext cx="928073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Services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86033" y="552279"/>
            <a:ext cx="923532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About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31904" y="552279"/>
            <a:ext cx="917404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31142" y="772992"/>
            <a:ext cx="8403368" cy="304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432"/>
              </a:lnSpc>
            </a:pPr>
            <a:r>
              <a:rPr lang="en-US" sz="12915" spc="-839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Methodology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7259300" y="3940511"/>
            <a:ext cx="602218" cy="602218"/>
          </a:xfrm>
          <a:custGeom>
            <a:avLst/>
            <a:gdLst/>
            <a:ahLst/>
            <a:cxnLst/>
            <a:rect r="r" b="b" t="t" l="l"/>
            <a:pathLst>
              <a:path h="602218" w="602218">
                <a:moveTo>
                  <a:pt x="0" y="0"/>
                </a:moveTo>
                <a:lnTo>
                  <a:pt x="602218" y="0"/>
                </a:lnTo>
                <a:lnTo>
                  <a:pt x="602218" y="602218"/>
                </a:lnTo>
                <a:lnTo>
                  <a:pt x="0" y="6022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378447" y="735752"/>
            <a:ext cx="169060" cy="169060"/>
          </a:xfrm>
          <a:custGeom>
            <a:avLst/>
            <a:gdLst/>
            <a:ahLst/>
            <a:cxnLst/>
            <a:rect r="r" b="b" t="t" l="l"/>
            <a:pathLst>
              <a:path h="169060" w="169060">
                <a:moveTo>
                  <a:pt x="0" y="0"/>
                </a:moveTo>
                <a:lnTo>
                  <a:pt x="169060" y="0"/>
                </a:lnTo>
                <a:lnTo>
                  <a:pt x="169060" y="169060"/>
                </a:lnTo>
                <a:lnTo>
                  <a:pt x="0" y="1690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741320" y="4696397"/>
            <a:ext cx="10380843" cy="1153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639"/>
              </a:lnSpc>
              <a:spcBef>
                <a:spcPct val="0"/>
              </a:spcBef>
            </a:pPr>
            <a:r>
              <a:rPr lang="ar-EG" sz="2599" spc="-103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خواندن فایل </a:t>
            </a:r>
            <a:r>
              <a:rPr lang="en-US" sz="2599" spc="-103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CSV</a:t>
            </a:r>
            <a:r>
              <a:rPr lang="ar-EG" sz="2599" spc="-103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:</a:t>
            </a:r>
          </a:p>
          <a:p>
            <a:pPr algn="r" rtl="true">
              <a:lnSpc>
                <a:spcPts val="3639"/>
              </a:lnSpc>
              <a:spcBef>
                <a:spcPct val="0"/>
              </a:spcBef>
            </a:pPr>
            <a:r>
              <a:rPr lang="ar-EG" sz="2599" spc="-103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سیستم باید توانایی خواندن فایل‌های </a:t>
            </a:r>
            <a:r>
              <a:rPr lang="en-US" sz="2599" spc="-103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CSV</a:t>
            </a:r>
            <a:r>
              <a:rPr lang="ar-EG" sz="2599" spc="-103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با پشتیبانی از </a:t>
            </a:r>
            <a:r>
              <a:rPr lang="en-US" sz="2599" spc="-103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delimiter</a:t>
            </a:r>
            <a:r>
              <a:rPr lang="ar-EG" sz="2599" spc="-103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های مختلف را داشته باشد.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71960" y="6021008"/>
            <a:ext cx="11150203" cy="109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3499"/>
              </a:lnSpc>
              <a:spcBef>
                <a:spcPct val="0"/>
              </a:spcBef>
            </a:pPr>
            <a:r>
              <a:rPr lang="ar-EG" sz="2499" spc="-9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کنترل کیفیت داده‌ها:</a:t>
            </a:r>
          </a:p>
          <a:p>
            <a:pPr algn="r" rtl="true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9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1</a:t>
            </a:r>
            <a:r>
              <a:rPr lang="ar-EG" sz="2499" spc="-9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.مقادیر خالی یا منفی: اگر داده‌ها شامل مقادیر خالی یا منفی باشند، این داده‌ها باید رد شوند (</a:t>
            </a:r>
            <a:r>
              <a:rPr lang="en-US" sz="2499" spc="-9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REJECT</a:t>
            </a:r>
            <a:r>
              <a:rPr lang="ar-EG" sz="2499" spc="-9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).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90606" y="6957633"/>
            <a:ext cx="8395747" cy="109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99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2</a:t>
            </a:r>
            <a:r>
              <a:rPr lang="ar-EG" sz="2499" spc="-99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.</a:t>
            </a:r>
            <a:r>
              <a:rPr lang="ar-EG" sz="2499" spc="-9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تناقض‌های مشکوک: داده‌هایی که در آن‌ها تناقضی مشهود وجود داشته باشد </a:t>
            </a:r>
          </a:p>
          <a:p>
            <a:pPr algn="r" rtl="true" marL="0" indent="0" lvl="0">
              <a:lnSpc>
                <a:spcPts val="3499"/>
              </a:lnSpc>
              <a:spcBef>
                <a:spcPct val="0"/>
              </a:spcBef>
            </a:pPr>
            <a:r>
              <a:rPr lang="ar-EG" sz="2499" spc="-9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(مثل سابقه کار غیرواقعی نسبت به سن) باید به حالت بررسی بروند (</a:t>
            </a:r>
            <a:r>
              <a:rPr lang="en-US" sz="2499" spc="-9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REVIEW</a:t>
            </a:r>
            <a:r>
              <a:rPr lang="ar-EG" sz="2499" spc="-9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).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21454" y="3840593"/>
            <a:ext cx="4848887" cy="1232029"/>
            <a:chOff x="0" y="0"/>
            <a:chExt cx="1277073" cy="32448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21454" y="7085700"/>
            <a:ext cx="4848887" cy="1232029"/>
            <a:chOff x="0" y="0"/>
            <a:chExt cx="1277073" cy="32448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21454" y="2215739"/>
            <a:ext cx="4848887" cy="1232029"/>
            <a:chOff x="0" y="0"/>
            <a:chExt cx="1277073" cy="32448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21454" y="8708254"/>
            <a:ext cx="4848887" cy="1232029"/>
            <a:chOff x="0" y="0"/>
            <a:chExt cx="1277073" cy="32448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-1117540" y="3693529"/>
            <a:ext cx="6103084" cy="125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13"/>
              </a:lnSpc>
            </a:pPr>
            <a:r>
              <a:rPr lang="en-US" b="true" sz="5301" spc="-344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</a:rPr>
              <a:t>Feature Engineering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53386" y="1750840"/>
            <a:ext cx="3985022" cy="169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505"/>
              </a:lnSpc>
              <a:spcBef>
                <a:spcPct val="0"/>
              </a:spcBef>
            </a:pPr>
            <a:r>
              <a:rPr lang="en-US" sz="7217" spc="-46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Data Pipeline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9178" y="5013930"/>
            <a:ext cx="3433438" cy="169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505"/>
              </a:lnSpc>
              <a:spcBef>
                <a:spcPct val="0"/>
              </a:spcBef>
            </a:pPr>
            <a:r>
              <a:rPr lang="en-US" sz="7217" spc="-469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Risk Model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64568" y="6656008"/>
            <a:ext cx="2562658" cy="169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505"/>
              </a:lnSpc>
              <a:spcBef>
                <a:spcPct val="0"/>
              </a:spcBef>
            </a:pPr>
            <a:r>
              <a:rPr lang="en-US" sz="7217" spc="-469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Grading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26074" y="8355989"/>
            <a:ext cx="2239646" cy="158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985"/>
              </a:lnSpc>
              <a:spcBef>
                <a:spcPct val="0"/>
              </a:spcBef>
            </a:pPr>
            <a:r>
              <a:rPr lang="en-US" sz="6717" spc="-436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W</a:t>
            </a:r>
            <a:r>
              <a:rPr lang="en-US" sz="6717" spc="-436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e</a:t>
            </a:r>
            <a:r>
              <a:rPr lang="en-US" sz="6717" spc="-436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b</a:t>
            </a:r>
            <a:r>
              <a:rPr lang="en-US" sz="6717" spc="-436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 </a:t>
            </a:r>
            <a:r>
              <a:rPr lang="en-US" sz="6717" spc="-436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UI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42464" y="611864"/>
            <a:ext cx="416836" cy="416836"/>
          </a:xfrm>
          <a:custGeom>
            <a:avLst/>
            <a:gdLst/>
            <a:ahLst/>
            <a:cxnLst/>
            <a:rect r="r" b="b" t="t" l="l"/>
            <a:pathLst>
              <a:path h="416836" w="416836">
                <a:moveTo>
                  <a:pt x="0" y="0"/>
                </a:moveTo>
                <a:lnTo>
                  <a:pt x="416836" y="0"/>
                </a:lnTo>
                <a:lnTo>
                  <a:pt x="416836" y="416836"/>
                </a:lnTo>
                <a:lnTo>
                  <a:pt x="0" y="416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21454" y="5463147"/>
            <a:ext cx="4848887" cy="1232029"/>
            <a:chOff x="0" y="0"/>
            <a:chExt cx="1277073" cy="3244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419143" y="5465447"/>
            <a:ext cx="9643106" cy="9643106"/>
          </a:xfrm>
          <a:custGeom>
            <a:avLst/>
            <a:gdLst/>
            <a:ahLst/>
            <a:cxnLst/>
            <a:rect r="r" b="b" t="t" l="l"/>
            <a:pathLst>
              <a:path h="9643106" w="9643106">
                <a:moveTo>
                  <a:pt x="0" y="0"/>
                </a:moveTo>
                <a:lnTo>
                  <a:pt x="9643106" y="0"/>
                </a:lnTo>
                <a:lnTo>
                  <a:pt x="9643106" y="9643106"/>
                </a:lnTo>
                <a:lnTo>
                  <a:pt x="0" y="9643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947798" y="3223641"/>
            <a:ext cx="6103084" cy="16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385"/>
              </a:lnSpc>
            </a:pPr>
            <a:r>
              <a:rPr lang="en-US" sz="7101" spc="-461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 Engineering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42113" y="552279"/>
            <a:ext cx="813226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78436" y="552279"/>
            <a:ext cx="751945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67106" y="552279"/>
            <a:ext cx="928073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Services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86033" y="552279"/>
            <a:ext cx="923532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About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31904" y="552279"/>
            <a:ext cx="917404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31142" y="772992"/>
            <a:ext cx="8403368" cy="304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432"/>
              </a:lnSpc>
            </a:pPr>
            <a:r>
              <a:rPr lang="en-US" sz="12915" spc="-839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Methodology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7259300" y="3940511"/>
            <a:ext cx="602218" cy="602218"/>
          </a:xfrm>
          <a:custGeom>
            <a:avLst/>
            <a:gdLst/>
            <a:ahLst/>
            <a:cxnLst/>
            <a:rect r="r" b="b" t="t" l="l"/>
            <a:pathLst>
              <a:path h="602218" w="602218">
                <a:moveTo>
                  <a:pt x="0" y="0"/>
                </a:moveTo>
                <a:lnTo>
                  <a:pt x="602218" y="0"/>
                </a:lnTo>
                <a:lnTo>
                  <a:pt x="602218" y="602218"/>
                </a:lnTo>
                <a:lnTo>
                  <a:pt x="0" y="6022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378447" y="735752"/>
            <a:ext cx="169060" cy="169060"/>
          </a:xfrm>
          <a:custGeom>
            <a:avLst/>
            <a:gdLst/>
            <a:ahLst/>
            <a:cxnLst/>
            <a:rect r="r" b="b" t="t" l="l"/>
            <a:pathLst>
              <a:path h="169060" w="169060">
                <a:moveTo>
                  <a:pt x="0" y="0"/>
                </a:moveTo>
                <a:lnTo>
                  <a:pt x="169060" y="0"/>
                </a:lnTo>
                <a:lnTo>
                  <a:pt x="169060" y="169060"/>
                </a:lnTo>
                <a:lnTo>
                  <a:pt x="0" y="1690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741320" y="4696397"/>
            <a:ext cx="10380843" cy="1153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639"/>
              </a:lnSpc>
              <a:spcBef>
                <a:spcPct val="0"/>
              </a:spcBef>
            </a:pPr>
            <a:r>
              <a:rPr lang="ar-EG" sz="2599" spc="-103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خواندن فایل </a:t>
            </a:r>
            <a:r>
              <a:rPr lang="en-US" sz="2599" spc="-103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CSV</a:t>
            </a:r>
            <a:r>
              <a:rPr lang="ar-EG" sz="2599" spc="-103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:</a:t>
            </a:r>
          </a:p>
          <a:p>
            <a:pPr algn="r" rtl="true">
              <a:lnSpc>
                <a:spcPts val="3639"/>
              </a:lnSpc>
              <a:spcBef>
                <a:spcPct val="0"/>
              </a:spcBef>
            </a:pPr>
            <a:r>
              <a:rPr lang="ar-EG" sz="2599" spc="-103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سیستم باید توانایی خواندن فایل‌های </a:t>
            </a:r>
            <a:r>
              <a:rPr lang="en-US" sz="2599" spc="-103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CSV</a:t>
            </a:r>
            <a:r>
              <a:rPr lang="ar-EG" sz="2599" spc="-103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با پشتیبانی از </a:t>
            </a:r>
            <a:r>
              <a:rPr lang="en-US" sz="2599" spc="-103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delimiter</a:t>
            </a:r>
            <a:r>
              <a:rPr lang="ar-EG" sz="2599" spc="-103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های مختلف را داشته باشد.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71960" y="6021008"/>
            <a:ext cx="11150203" cy="109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3499"/>
              </a:lnSpc>
              <a:spcBef>
                <a:spcPct val="0"/>
              </a:spcBef>
            </a:pPr>
            <a:r>
              <a:rPr lang="ar-EG" sz="2499" spc="-9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کنترل کیفیت داده‌ها:</a:t>
            </a:r>
          </a:p>
          <a:p>
            <a:pPr algn="r" rtl="true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9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1</a:t>
            </a:r>
            <a:r>
              <a:rPr lang="ar-EG" sz="2499" spc="-9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.مقادیر خالی یا منفی: اگر داده‌ها شامل مقادیر خالی یا منفی باشند، این داده‌ها باید رد شوند (</a:t>
            </a:r>
            <a:r>
              <a:rPr lang="en-US" sz="2499" spc="-9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REJECT</a:t>
            </a:r>
            <a:r>
              <a:rPr lang="ar-EG" sz="2499" spc="-9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).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90606" y="6957633"/>
            <a:ext cx="8395747" cy="109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99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2</a:t>
            </a:r>
            <a:r>
              <a:rPr lang="ar-EG" sz="2499" spc="-99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.</a:t>
            </a:r>
            <a:r>
              <a:rPr lang="ar-EG" sz="2499" spc="-9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تناقض‌های مشکوک: داده‌هایی که در آن‌ها تناقضی مشهود وجود داشته باشد </a:t>
            </a:r>
          </a:p>
          <a:p>
            <a:pPr algn="r" rtl="true" marL="0" indent="0" lvl="0">
              <a:lnSpc>
                <a:spcPts val="3499"/>
              </a:lnSpc>
              <a:spcBef>
                <a:spcPct val="0"/>
              </a:spcBef>
            </a:pPr>
            <a:r>
              <a:rPr lang="ar-EG" sz="2499" spc="-9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(مثل سابقه کار غیرواقعی نسبت به سن) باید به حالت بررسی بروند (</a:t>
            </a:r>
            <a:r>
              <a:rPr lang="en-US" sz="2499" spc="-9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REVIEW</a:t>
            </a:r>
            <a:r>
              <a:rPr lang="ar-EG" sz="2499" spc="-9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).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21454" y="3840593"/>
            <a:ext cx="4848887" cy="1232029"/>
            <a:chOff x="0" y="0"/>
            <a:chExt cx="1277073" cy="32448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21454" y="7085700"/>
            <a:ext cx="4848887" cy="1232029"/>
            <a:chOff x="0" y="0"/>
            <a:chExt cx="1277073" cy="32448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21454" y="2215739"/>
            <a:ext cx="4848887" cy="1232029"/>
            <a:chOff x="0" y="0"/>
            <a:chExt cx="1277073" cy="32448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21454" y="8708254"/>
            <a:ext cx="4848887" cy="1232029"/>
            <a:chOff x="0" y="0"/>
            <a:chExt cx="1277073" cy="32448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-1117540" y="3693529"/>
            <a:ext cx="6103084" cy="125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13"/>
              </a:lnSpc>
            </a:pPr>
            <a:r>
              <a:rPr lang="en-US" sz="5301" spc="-344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 Engineering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53386" y="1750840"/>
            <a:ext cx="3985022" cy="169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505"/>
              </a:lnSpc>
              <a:spcBef>
                <a:spcPct val="0"/>
              </a:spcBef>
            </a:pPr>
            <a:r>
              <a:rPr lang="en-US" sz="7217" spc="-469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Data Pipeline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9178" y="5013930"/>
            <a:ext cx="3433438" cy="169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505"/>
              </a:lnSpc>
              <a:spcBef>
                <a:spcPct val="0"/>
              </a:spcBef>
            </a:pPr>
            <a:r>
              <a:rPr lang="en-US" sz="7217" spc="-469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Risk Model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64568" y="6656008"/>
            <a:ext cx="2562658" cy="169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505"/>
              </a:lnSpc>
              <a:spcBef>
                <a:spcPct val="0"/>
              </a:spcBef>
            </a:pPr>
            <a:r>
              <a:rPr lang="en-US" sz="7217" spc="-469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Grading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26074" y="8355236"/>
            <a:ext cx="2239646" cy="158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985"/>
              </a:lnSpc>
              <a:spcBef>
                <a:spcPct val="0"/>
              </a:spcBef>
            </a:pPr>
            <a:r>
              <a:rPr lang="en-US" sz="6717" spc="-436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W</a:t>
            </a:r>
            <a:r>
              <a:rPr lang="en-US" sz="6717" spc="-436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e</a:t>
            </a:r>
            <a:r>
              <a:rPr lang="en-US" sz="6717" spc="-436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b</a:t>
            </a:r>
            <a:r>
              <a:rPr lang="en-US" sz="6717" spc="-436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 </a:t>
            </a:r>
            <a:r>
              <a:rPr lang="en-US" sz="6717" spc="-436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UI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42464" y="611864"/>
            <a:ext cx="416836" cy="416836"/>
          </a:xfrm>
          <a:custGeom>
            <a:avLst/>
            <a:gdLst/>
            <a:ahLst/>
            <a:cxnLst/>
            <a:rect r="r" b="b" t="t" l="l"/>
            <a:pathLst>
              <a:path h="416836" w="416836">
                <a:moveTo>
                  <a:pt x="0" y="0"/>
                </a:moveTo>
                <a:lnTo>
                  <a:pt x="416836" y="0"/>
                </a:lnTo>
                <a:lnTo>
                  <a:pt x="416836" y="416836"/>
                </a:lnTo>
                <a:lnTo>
                  <a:pt x="0" y="416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21454" y="5463147"/>
            <a:ext cx="4848887" cy="1232029"/>
            <a:chOff x="0" y="0"/>
            <a:chExt cx="1277073" cy="3244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419143" y="5465447"/>
            <a:ext cx="9643106" cy="9643106"/>
          </a:xfrm>
          <a:custGeom>
            <a:avLst/>
            <a:gdLst/>
            <a:ahLst/>
            <a:cxnLst/>
            <a:rect r="r" b="b" t="t" l="l"/>
            <a:pathLst>
              <a:path h="9643106" w="9643106">
                <a:moveTo>
                  <a:pt x="0" y="0"/>
                </a:moveTo>
                <a:lnTo>
                  <a:pt x="9643106" y="0"/>
                </a:lnTo>
                <a:lnTo>
                  <a:pt x="9643106" y="9643106"/>
                </a:lnTo>
                <a:lnTo>
                  <a:pt x="0" y="9643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010707" y="3278269"/>
            <a:ext cx="6103084" cy="16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385"/>
              </a:lnSpc>
            </a:pPr>
            <a:r>
              <a:rPr lang="en-US" sz="7101" spc="-461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Risk Model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42113" y="552279"/>
            <a:ext cx="813226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78436" y="552279"/>
            <a:ext cx="751945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67106" y="552279"/>
            <a:ext cx="928073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Services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86033" y="552279"/>
            <a:ext cx="923532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About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31904" y="552279"/>
            <a:ext cx="917404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31142" y="772992"/>
            <a:ext cx="8403368" cy="304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432"/>
              </a:lnSpc>
            </a:pPr>
            <a:r>
              <a:rPr lang="en-US" sz="12915" spc="-839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Methodology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7259300" y="3940511"/>
            <a:ext cx="602218" cy="602218"/>
          </a:xfrm>
          <a:custGeom>
            <a:avLst/>
            <a:gdLst/>
            <a:ahLst/>
            <a:cxnLst/>
            <a:rect r="r" b="b" t="t" l="l"/>
            <a:pathLst>
              <a:path h="602218" w="602218">
                <a:moveTo>
                  <a:pt x="0" y="0"/>
                </a:moveTo>
                <a:lnTo>
                  <a:pt x="602218" y="0"/>
                </a:lnTo>
                <a:lnTo>
                  <a:pt x="602218" y="602218"/>
                </a:lnTo>
                <a:lnTo>
                  <a:pt x="0" y="6022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378447" y="735752"/>
            <a:ext cx="169060" cy="169060"/>
          </a:xfrm>
          <a:custGeom>
            <a:avLst/>
            <a:gdLst/>
            <a:ahLst/>
            <a:cxnLst/>
            <a:rect r="r" b="b" t="t" l="l"/>
            <a:pathLst>
              <a:path h="169060" w="169060">
                <a:moveTo>
                  <a:pt x="0" y="0"/>
                </a:moveTo>
                <a:lnTo>
                  <a:pt x="169060" y="0"/>
                </a:lnTo>
                <a:lnTo>
                  <a:pt x="169060" y="169060"/>
                </a:lnTo>
                <a:lnTo>
                  <a:pt x="0" y="1690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3329593" y="5158347"/>
            <a:ext cx="4458782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639"/>
              </a:lnSpc>
              <a:spcBef>
                <a:spcPct val="0"/>
              </a:spcBef>
            </a:pPr>
            <a:r>
              <a:rPr lang="ar-EG" sz="2599" spc="-103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حالت </a:t>
            </a:r>
            <a:r>
              <a:rPr lang="en-US" sz="2599" spc="-103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1</a:t>
            </a:r>
            <a:r>
              <a:rPr lang="ar-EG" sz="2599" spc="-103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: م</a:t>
            </a:r>
            <a:r>
              <a:rPr lang="ar-EG" sz="2599" spc="-103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دل داخلی ساده و قابل توضیح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85339" y="5999215"/>
            <a:ext cx="8703036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3639"/>
              </a:lnSpc>
              <a:spcBef>
                <a:spcPct val="0"/>
              </a:spcBef>
            </a:pPr>
            <a:r>
              <a:rPr lang="ar-EG" sz="2599" spc="-103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حالت </a:t>
            </a:r>
            <a:r>
              <a:rPr lang="en-US" sz="2599" spc="-103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2</a:t>
            </a:r>
            <a:r>
              <a:rPr lang="ar-EG" sz="2599" spc="-103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: آموزش </a:t>
            </a:r>
            <a:r>
              <a:rPr lang="en-US" sz="2599" spc="-103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Logistic Regression</a:t>
            </a:r>
            <a:r>
              <a:rPr lang="ar-EG" sz="2599" spc="-103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روی داده تاریخی و استفاده برای پیش‌بینی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21454" y="3840593"/>
            <a:ext cx="4848887" cy="1232029"/>
            <a:chOff x="0" y="0"/>
            <a:chExt cx="1277073" cy="32448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21454" y="7085700"/>
            <a:ext cx="4848887" cy="1232029"/>
            <a:chOff x="0" y="0"/>
            <a:chExt cx="1277073" cy="32448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21454" y="2215739"/>
            <a:ext cx="4848887" cy="1232029"/>
            <a:chOff x="0" y="0"/>
            <a:chExt cx="1277073" cy="32448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21454" y="8708254"/>
            <a:ext cx="4848887" cy="1232029"/>
            <a:chOff x="0" y="0"/>
            <a:chExt cx="1277073" cy="32448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515788" y="3693529"/>
            <a:ext cx="4469756" cy="125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13"/>
              </a:lnSpc>
            </a:pPr>
            <a:r>
              <a:rPr lang="en-US" sz="5301" spc="-344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 Engineering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53386" y="1750840"/>
            <a:ext cx="3985022" cy="169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505"/>
              </a:lnSpc>
              <a:spcBef>
                <a:spcPct val="0"/>
              </a:spcBef>
            </a:pPr>
            <a:r>
              <a:rPr lang="en-US" sz="7217" spc="-469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Data Pipeline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9178" y="5013930"/>
            <a:ext cx="3433438" cy="169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505"/>
              </a:lnSpc>
              <a:spcBef>
                <a:spcPct val="0"/>
              </a:spcBef>
            </a:pPr>
            <a:r>
              <a:rPr lang="en-US" sz="7217" spc="-46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Risk Model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64568" y="6656008"/>
            <a:ext cx="2562658" cy="169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505"/>
              </a:lnSpc>
              <a:spcBef>
                <a:spcPct val="0"/>
              </a:spcBef>
            </a:pPr>
            <a:r>
              <a:rPr lang="en-US" sz="7217" spc="-469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Grading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30842" y="8355236"/>
            <a:ext cx="2239646" cy="158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985"/>
              </a:lnSpc>
              <a:spcBef>
                <a:spcPct val="0"/>
              </a:spcBef>
            </a:pPr>
            <a:r>
              <a:rPr lang="en-US" sz="6717" spc="-436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W</a:t>
            </a:r>
            <a:r>
              <a:rPr lang="en-US" sz="6717" spc="-436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e</a:t>
            </a:r>
            <a:r>
              <a:rPr lang="en-US" sz="6717" spc="-436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b</a:t>
            </a:r>
            <a:r>
              <a:rPr lang="en-US" sz="6717" spc="-436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 </a:t>
            </a:r>
            <a:r>
              <a:rPr lang="en-US" sz="6717" spc="-436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UI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42464" y="611864"/>
            <a:ext cx="416836" cy="416836"/>
          </a:xfrm>
          <a:custGeom>
            <a:avLst/>
            <a:gdLst/>
            <a:ahLst/>
            <a:cxnLst/>
            <a:rect r="r" b="b" t="t" l="l"/>
            <a:pathLst>
              <a:path h="416836" w="416836">
                <a:moveTo>
                  <a:pt x="0" y="0"/>
                </a:moveTo>
                <a:lnTo>
                  <a:pt x="416836" y="0"/>
                </a:lnTo>
                <a:lnTo>
                  <a:pt x="416836" y="416836"/>
                </a:lnTo>
                <a:lnTo>
                  <a:pt x="0" y="416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21454" y="5463147"/>
            <a:ext cx="4848887" cy="1232029"/>
            <a:chOff x="0" y="0"/>
            <a:chExt cx="1277073" cy="3244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327755" y="5430628"/>
            <a:ext cx="9643106" cy="9643106"/>
          </a:xfrm>
          <a:custGeom>
            <a:avLst/>
            <a:gdLst/>
            <a:ahLst/>
            <a:cxnLst/>
            <a:rect r="r" b="b" t="t" l="l"/>
            <a:pathLst>
              <a:path h="9643106" w="9643106">
                <a:moveTo>
                  <a:pt x="0" y="0"/>
                </a:moveTo>
                <a:lnTo>
                  <a:pt x="9643105" y="0"/>
                </a:lnTo>
                <a:lnTo>
                  <a:pt x="9643105" y="9643105"/>
                </a:lnTo>
                <a:lnTo>
                  <a:pt x="0" y="9643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386384" y="3011779"/>
            <a:ext cx="2664498" cy="16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385"/>
              </a:lnSpc>
            </a:pPr>
            <a:r>
              <a:rPr lang="en-US" sz="7101" spc="-461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Grading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42113" y="552279"/>
            <a:ext cx="813226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78436" y="552279"/>
            <a:ext cx="751945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67106" y="552279"/>
            <a:ext cx="928073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Services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86033" y="552279"/>
            <a:ext cx="923532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About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31904" y="552279"/>
            <a:ext cx="917404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31142" y="772992"/>
            <a:ext cx="8403368" cy="304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432"/>
              </a:lnSpc>
            </a:pPr>
            <a:r>
              <a:rPr lang="en-US" sz="12915" spc="-839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Methodology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7259300" y="3728649"/>
            <a:ext cx="602218" cy="602218"/>
          </a:xfrm>
          <a:custGeom>
            <a:avLst/>
            <a:gdLst/>
            <a:ahLst/>
            <a:cxnLst/>
            <a:rect r="r" b="b" t="t" l="l"/>
            <a:pathLst>
              <a:path h="602218" w="602218">
                <a:moveTo>
                  <a:pt x="0" y="0"/>
                </a:moveTo>
                <a:lnTo>
                  <a:pt x="602218" y="0"/>
                </a:lnTo>
                <a:lnTo>
                  <a:pt x="602218" y="602219"/>
                </a:lnTo>
                <a:lnTo>
                  <a:pt x="0" y="602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378447" y="735752"/>
            <a:ext cx="169060" cy="169060"/>
          </a:xfrm>
          <a:custGeom>
            <a:avLst/>
            <a:gdLst/>
            <a:ahLst/>
            <a:cxnLst/>
            <a:rect r="r" b="b" t="t" l="l"/>
            <a:pathLst>
              <a:path h="169060" w="169060">
                <a:moveTo>
                  <a:pt x="0" y="0"/>
                </a:moveTo>
                <a:lnTo>
                  <a:pt x="169060" y="0"/>
                </a:lnTo>
                <a:lnTo>
                  <a:pt x="169060" y="169060"/>
                </a:lnTo>
                <a:lnTo>
                  <a:pt x="0" y="1690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6600275" y="4622587"/>
            <a:ext cx="1549533" cy="6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8"/>
              </a:lnSpc>
            </a:pPr>
            <a:r>
              <a:rPr lang="en-US" b="true" sz="2899" spc="-124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:  REJECT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321454" y="3840593"/>
            <a:ext cx="4848887" cy="1232029"/>
            <a:chOff x="0" y="0"/>
            <a:chExt cx="1277073" cy="32448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21454" y="7085700"/>
            <a:ext cx="4848887" cy="1232029"/>
            <a:chOff x="0" y="0"/>
            <a:chExt cx="1277073" cy="32448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21454" y="2215739"/>
            <a:ext cx="4848887" cy="1232029"/>
            <a:chOff x="0" y="0"/>
            <a:chExt cx="1277073" cy="32448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21454" y="8708254"/>
            <a:ext cx="4848887" cy="1232029"/>
            <a:chOff x="0" y="0"/>
            <a:chExt cx="1277073" cy="32448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321454" y="3693529"/>
            <a:ext cx="4664090" cy="125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13"/>
              </a:lnSpc>
            </a:pPr>
            <a:r>
              <a:rPr lang="en-US" sz="5301" spc="-344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 Engineering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53386" y="1750840"/>
            <a:ext cx="3985022" cy="169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505"/>
              </a:lnSpc>
              <a:spcBef>
                <a:spcPct val="0"/>
              </a:spcBef>
            </a:pPr>
            <a:r>
              <a:rPr lang="en-US" sz="7217" spc="-469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Data Pipeline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9178" y="5013930"/>
            <a:ext cx="3433438" cy="169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505"/>
              </a:lnSpc>
              <a:spcBef>
                <a:spcPct val="0"/>
              </a:spcBef>
            </a:pPr>
            <a:r>
              <a:rPr lang="en-US" sz="7217" spc="-469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Risk Model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64568" y="6656008"/>
            <a:ext cx="2562658" cy="169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505"/>
              </a:lnSpc>
              <a:spcBef>
                <a:spcPct val="0"/>
              </a:spcBef>
            </a:pPr>
            <a:r>
              <a:rPr lang="en-US" sz="7217" spc="-469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Grading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26074" y="8355989"/>
            <a:ext cx="2239646" cy="158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985"/>
              </a:lnSpc>
              <a:spcBef>
                <a:spcPct val="0"/>
              </a:spcBef>
            </a:pPr>
            <a:r>
              <a:rPr lang="en-US" sz="6717" spc="-436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W</a:t>
            </a:r>
            <a:r>
              <a:rPr lang="en-US" sz="6717" spc="-436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e</a:t>
            </a:r>
            <a:r>
              <a:rPr lang="en-US" sz="6717" spc="-436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b</a:t>
            </a:r>
            <a:r>
              <a:rPr lang="en-US" sz="6717" spc="-436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 </a:t>
            </a:r>
            <a:r>
              <a:rPr lang="en-US" sz="6717" spc="-436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UI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791913" y="4604955"/>
            <a:ext cx="4717689" cy="6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28"/>
              </a:lnSpc>
            </a:pPr>
            <a:r>
              <a:rPr lang="en-US" sz="2899" spc="-124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  </a:t>
            </a:r>
            <a:r>
              <a:rPr lang="ar-EG" sz="2899" spc="-124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یا داده نامعتبر</a:t>
            </a:r>
            <a:r>
              <a:rPr lang="en-US" sz="2899" spc="-124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Policy</a:t>
            </a:r>
            <a:r>
              <a:rPr lang="ar-EG" sz="2899" spc="-124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به دلیل رد قطعی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524004" y="5578389"/>
            <a:ext cx="1409047" cy="6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8"/>
              </a:lnSpc>
            </a:pPr>
            <a:r>
              <a:rPr lang="en-US" b="true" sz="2899" spc="-124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: </a:t>
            </a:r>
            <a:r>
              <a:rPr lang="en-US" b="true" sz="2899" spc="-124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REVIEW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054571" y="5578389"/>
            <a:ext cx="5560107" cy="6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8"/>
              </a:lnSpc>
            </a:pPr>
            <a:r>
              <a:rPr lang="ar-EG" sz="2899" spc="-124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داده مشکوک/ناقص یا نیازمند بررسی انسانی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318295" y="6626850"/>
            <a:ext cx="1609617" cy="6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8"/>
              </a:lnSpc>
            </a:pPr>
            <a:r>
              <a:rPr lang="en-US" b="true" sz="2899" spc="-124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: </a:t>
            </a:r>
            <a:r>
              <a:rPr lang="en-US" b="true" sz="2899" spc="-124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WAITLIST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409564" y="6626850"/>
            <a:ext cx="4906457" cy="6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8"/>
              </a:lnSpc>
            </a:pPr>
            <a:r>
              <a:rPr lang="en-US" sz="2899" spc="-124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   </a:t>
            </a:r>
            <a:r>
              <a:rPr lang="ar-EG" sz="2899" spc="-124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واجد شرایط بوده</a:t>
            </a:r>
            <a:r>
              <a:rPr lang="en-US" sz="2899" spc="-124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 N </a:t>
            </a:r>
            <a:r>
              <a:rPr lang="ar-EG" sz="2899" spc="-124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ظرفیت پر شده اما</a:t>
            </a:r>
            <a:r>
              <a:rPr lang="en-US" sz="2899" spc="-124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 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240740" y="7612348"/>
            <a:ext cx="1692311" cy="6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8"/>
              </a:lnSpc>
            </a:pPr>
            <a:r>
              <a:rPr lang="en-US" b="true" sz="2899" spc="-124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: </a:t>
            </a:r>
            <a:r>
              <a:rPr lang="en-US" b="true" sz="2899" spc="-124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</a:rPr>
              <a:t>SELECTED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380584" y="7612348"/>
            <a:ext cx="4780792" cy="6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8"/>
              </a:lnSpc>
            </a:pPr>
            <a:r>
              <a:rPr lang="ar-EG" sz="2899" spc="-124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واجد شرایط و انتخاب‌شده در ظرفیت</a:t>
            </a:r>
            <a:r>
              <a:rPr lang="en-US" sz="2899" spc="-124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 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42464" y="611864"/>
            <a:ext cx="416836" cy="416836"/>
          </a:xfrm>
          <a:custGeom>
            <a:avLst/>
            <a:gdLst/>
            <a:ahLst/>
            <a:cxnLst/>
            <a:rect r="r" b="b" t="t" l="l"/>
            <a:pathLst>
              <a:path h="416836" w="416836">
                <a:moveTo>
                  <a:pt x="0" y="0"/>
                </a:moveTo>
                <a:lnTo>
                  <a:pt x="416836" y="0"/>
                </a:lnTo>
                <a:lnTo>
                  <a:pt x="416836" y="416836"/>
                </a:lnTo>
                <a:lnTo>
                  <a:pt x="0" y="416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21454" y="5463147"/>
            <a:ext cx="4848887" cy="1232029"/>
            <a:chOff x="0" y="0"/>
            <a:chExt cx="1277073" cy="3244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419143" y="5465447"/>
            <a:ext cx="9643106" cy="9643106"/>
          </a:xfrm>
          <a:custGeom>
            <a:avLst/>
            <a:gdLst/>
            <a:ahLst/>
            <a:cxnLst/>
            <a:rect r="r" b="b" t="t" l="l"/>
            <a:pathLst>
              <a:path h="9643106" w="9643106">
                <a:moveTo>
                  <a:pt x="0" y="0"/>
                </a:moveTo>
                <a:lnTo>
                  <a:pt x="9643106" y="0"/>
                </a:lnTo>
                <a:lnTo>
                  <a:pt x="9643106" y="9643106"/>
                </a:lnTo>
                <a:lnTo>
                  <a:pt x="0" y="9643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501003" y="3223641"/>
            <a:ext cx="2549879" cy="16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385"/>
              </a:lnSpc>
            </a:pPr>
            <a:r>
              <a:rPr lang="en-US" sz="7101" spc="-461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Web UI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42113" y="552279"/>
            <a:ext cx="813226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78436" y="552279"/>
            <a:ext cx="751945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67106" y="552279"/>
            <a:ext cx="928073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Services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86033" y="552279"/>
            <a:ext cx="923532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About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31904" y="552279"/>
            <a:ext cx="917404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31142" y="772992"/>
            <a:ext cx="8403368" cy="304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432"/>
              </a:lnSpc>
            </a:pPr>
            <a:r>
              <a:rPr lang="en-US" sz="12915" spc="-839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Methodology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7259300" y="3940511"/>
            <a:ext cx="602218" cy="602218"/>
          </a:xfrm>
          <a:custGeom>
            <a:avLst/>
            <a:gdLst/>
            <a:ahLst/>
            <a:cxnLst/>
            <a:rect r="r" b="b" t="t" l="l"/>
            <a:pathLst>
              <a:path h="602218" w="602218">
                <a:moveTo>
                  <a:pt x="0" y="0"/>
                </a:moveTo>
                <a:lnTo>
                  <a:pt x="602218" y="0"/>
                </a:lnTo>
                <a:lnTo>
                  <a:pt x="602218" y="602218"/>
                </a:lnTo>
                <a:lnTo>
                  <a:pt x="0" y="6022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378447" y="735752"/>
            <a:ext cx="169060" cy="169060"/>
          </a:xfrm>
          <a:custGeom>
            <a:avLst/>
            <a:gdLst/>
            <a:ahLst/>
            <a:cxnLst/>
            <a:rect r="r" b="b" t="t" l="l"/>
            <a:pathLst>
              <a:path h="169060" w="169060">
                <a:moveTo>
                  <a:pt x="0" y="0"/>
                </a:moveTo>
                <a:lnTo>
                  <a:pt x="169060" y="0"/>
                </a:lnTo>
                <a:lnTo>
                  <a:pt x="169060" y="169060"/>
                </a:lnTo>
                <a:lnTo>
                  <a:pt x="0" y="1690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5718079" y="4529697"/>
            <a:ext cx="1842330" cy="1235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6439"/>
              </a:lnSpc>
              <a:spcBef>
                <a:spcPct val="0"/>
              </a:spcBef>
            </a:pPr>
            <a:r>
              <a:rPr lang="en-US" sz="4599" spc="-183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Streamlit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062249" y="5517759"/>
            <a:ext cx="3501737" cy="99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5179"/>
              </a:lnSpc>
              <a:spcBef>
                <a:spcPct val="0"/>
              </a:spcBef>
            </a:pPr>
            <a:r>
              <a:rPr lang="ar-EG" sz="3699" spc="-14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آپلود فایل + دریافت </a:t>
            </a:r>
            <a:r>
              <a:rPr lang="en-US" sz="3699" spc="-14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069267" y="6375452"/>
            <a:ext cx="4494718" cy="99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5179"/>
              </a:lnSpc>
              <a:spcBef>
                <a:spcPct val="0"/>
              </a:spcBef>
            </a:pPr>
            <a:r>
              <a:rPr lang="ar-EG" sz="3699" spc="-14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جدول خروجی + دانلود </a:t>
            </a:r>
            <a:r>
              <a:rPr lang="en-US" sz="3699" spc="-14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CSV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21454" y="3840593"/>
            <a:ext cx="4848887" cy="1232029"/>
            <a:chOff x="0" y="0"/>
            <a:chExt cx="1277073" cy="32448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21454" y="7085700"/>
            <a:ext cx="4848887" cy="1232029"/>
            <a:chOff x="0" y="0"/>
            <a:chExt cx="1277073" cy="32448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21454" y="2215739"/>
            <a:ext cx="4848887" cy="1232029"/>
            <a:chOff x="0" y="0"/>
            <a:chExt cx="1277073" cy="32448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21454" y="8708254"/>
            <a:ext cx="4848887" cy="1232029"/>
            <a:chOff x="0" y="0"/>
            <a:chExt cx="1277073" cy="32448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77073" cy="324485"/>
            </a:xfrm>
            <a:custGeom>
              <a:avLst/>
              <a:gdLst/>
              <a:ahLst/>
              <a:cxnLst/>
              <a:rect r="r" b="b" t="t" l="l"/>
              <a:pathLst>
                <a:path h="324485" w="1277073">
                  <a:moveTo>
                    <a:pt x="79832" y="0"/>
                  </a:moveTo>
                  <a:lnTo>
                    <a:pt x="1197241" y="0"/>
                  </a:lnTo>
                  <a:cubicBezTo>
                    <a:pt x="1241331" y="0"/>
                    <a:pt x="1277073" y="35742"/>
                    <a:pt x="1277073" y="79832"/>
                  </a:cubicBezTo>
                  <a:lnTo>
                    <a:pt x="1277073" y="244653"/>
                  </a:lnTo>
                  <a:cubicBezTo>
                    <a:pt x="1277073" y="265826"/>
                    <a:pt x="1268662" y="286131"/>
                    <a:pt x="1253691" y="301103"/>
                  </a:cubicBezTo>
                  <a:cubicBezTo>
                    <a:pt x="1238719" y="316074"/>
                    <a:pt x="1218414" y="324485"/>
                    <a:pt x="1197241" y="324485"/>
                  </a:cubicBezTo>
                  <a:lnTo>
                    <a:pt x="79832" y="324485"/>
                  </a:lnTo>
                  <a:cubicBezTo>
                    <a:pt x="35742" y="324485"/>
                    <a:pt x="0" y="288743"/>
                    <a:pt x="0" y="244653"/>
                  </a:cubicBezTo>
                  <a:lnTo>
                    <a:pt x="0" y="79832"/>
                  </a:lnTo>
                  <a:cubicBezTo>
                    <a:pt x="0" y="35742"/>
                    <a:pt x="35742" y="0"/>
                    <a:pt x="7983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61925"/>
              <a:ext cx="1277073" cy="486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321454" y="3693529"/>
            <a:ext cx="4664090" cy="125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13"/>
              </a:lnSpc>
            </a:pPr>
            <a:r>
              <a:rPr lang="en-US" b="true" sz="5301" spc="-344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</a:rPr>
              <a:t>Feature Engineering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53386" y="1750840"/>
            <a:ext cx="3985022" cy="169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505"/>
              </a:lnSpc>
              <a:spcBef>
                <a:spcPct val="0"/>
              </a:spcBef>
            </a:pPr>
            <a:r>
              <a:rPr lang="en-US" sz="7217" spc="-469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Data Pipeline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9178" y="5013930"/>
            <a:ext cx="3433438" cy="169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505"/>
              </a:lnSpc>
              <a:spcBef>
                <a:spcPct val="0"/>
              </a:spcBef>
            </a:pPr>
            <a:r>
              <a:rPr lang="en-US" sz="7217" spc="-469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Risk Model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64568" y="6656008"/>
            <a:ext cx="2562658" cy="169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505"/>
              </a:lnSpc>
              <a:spcBef>
                <a:spcPct val="0"/>
              </a:spcBef>
            </a:pPr>
            <a:r>
              <a:rPr lang="en-US" sz="7217" spc="-469" strike="noStrike" u="none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</a:rPr>
              <a:t>Grading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26074" y="8460011"/>
            <a:ext cx="2239646" cy="158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985"/>
              </a:lnSpc>
              <a:spcBef>
                <a:spcPct val="0"/>
              </a:spcBef>
            </a:pPr>
            <a:r>
              <a:rPr lang="en-US" sz="6717" spc="-436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W</a:t>
            </a:r>
            <a:r>
              <a:rPr lang="en-US" sz="6717" spc="-43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e</a:t>
            </a:r>
            <a:r>
              <a:rPr lang="en-US" sz="6717" spc="-43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b</a:t>
            </a:r>
            <a:r>
              <a:rPr lang="en-US" sz="6717" spc="-43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 </a:t>
            </a:r>
            <a:r>
              <a:rPr lang="en-US" sz="6717" spc="-43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UI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113212" y="7325858"/>
            <a:ext cx="4450773" cy="99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5179"/>
              </a:lnSpc>
              <a:spcBef>
                <a:spcPct val="0"/>
              </a:spcBef>
            </a:pPr>
            <a:r>
              <a:rPr lang="ar-EG" sz="3699" spc="-14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نمودار آماری برای «یک نگاه»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42464" y="611864"/>
            <a:ext cx="416836" cy="416836"/>
          </a:xfrm>
          <a:custGeom>
            <a:avLst/>
            <a:gdLst/>
            <a:ahLst/>
            <a:cxnLst/>
            <a:rect r="r" b="b" t="t" l="l"/>
            <a:pathLst>
              <a:path h="416836" w="416836">
                <a:moveTo>
                  <a:pt x="0" y="0"/>
                </a:moveTo>
                <a:lnTo>
                  <a:pt x="416836" y="0"/>
                </a:lnTo>
                <a:lnTo>
                  <a:pt x="416836" y="416836"/>
                </a:lnTo>
                <a:lnTo>
                  <a:pt x="0" y="416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963936" y="5186324"/>
            <a:ext cx="9643106" cy="9643106"/>
          </a:xfrm>
          <a:custGeom>
            <a:avLst/>
            <a:gdLst/>
            <a:ahLst/>
            <a:cxnLst/>
            <a:rect r="r" b="b" t="t" l="l"/>
            <a:pathLst>
              <a:path h="9643106" w="9643106">
                <a:moveTo>
                  <a:pt x="0" y="0"/>
                </a:moveTo>
                <a:lnTo>
                  <a:pt x="9643105" y="0"/>
                </a:lnTo>
                <a:lnTo>
                  <a:pt x="9643105" y="9643106"/>
                </a:lnTo>
                <a:lnTo>
                  <a:pt x="0" y="9643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742113" y="552279"/>
            <a:ext cx="813226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Contact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78436" y="552279"/>
            <a:ext cx="751945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67106" y="552279"/>
            <a:ext cx="928073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Services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86033" y="552279"/>
            <a:ext cx="923532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About 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31904" y="552279"/>
            <a:ext cx="917404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54408" y="1271298"/>
            <a:ext cx="10844020" cy="1845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146"/>
              </a:lnSpc>
            </a:pPr>
            <a:r>
              <a:rPr lang="ar-EG" sz="7832" spc="-509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خروجی‌های مورد انتظار پروژه: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62633" y="4500185"/>
            <a:ext cx="8037912" cy="3476224"/>
            <a:chOff x="0" y="0"/>
            <a:chExt cx="2071830" cy="8960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71830" cy="896022"/>
            </a:xfrm>
            <a:custGeom>
              <a:avLst/>
              <a:gdLst/>
              <a:ahLst/>
              <a:cxnLst/>
              <a:rect r="r" b="b" t="t" l="l"/>
              <a:pathLst>
                <a:path h="896022" w="2071830">
                  <a:moveTo>
                    <a:pt x="48159" y="0"/>
                  </a:moveTo>
                  <a:lnTo>
                    <a:pt x="2023671" y="0"/>
                  </a:lnTo>
                  <a:cubicBezTo>
                    <a:pt x="2050268" y="0"/>
                    <a:pt x="2071830" y="21561"/>
                    <a:pt x="2071830" y="48159"/>
                  </a:cubicBezTo>
                  <a:lnTo>
                    <a:pt x="2071830" y="847863"/>
                  </a:lnTo>
                  <a:cubicBezTo>
                    <a:pt x="2071830" y="874460"/>
                    <a:pt x="2050268" y="896022"/>
                    <a:pt x="2023671" y="896022"/>
                  </a:cubicBezTo>
                  <a:lnTo>
                    <a:pt x="48159" y="896022"/>
                  </a:lnTo>
                  <a:cubicBezTo>
                    <a:pt x="21561" y="896022"/>
                    <a:pt x="0" y="874460"/>
                    <a:pt x="0" y="847863"/>
                  </a:cubicBezTo>
                  <a:lnTo>
                    <a:pt x="0" y="48159"/>
                  </a:lnTo>
                  <a:cubicBezTo>
                    <a:pt x="0" y="21561"/>
                    <a:pt x="21561" y="0"/>
                    <a:pt x="48159" y="0"/>
                  </a:cubicBez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61925"/>
              <a:ext cx="2071830" cy="1057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715407" y="4672974"/>
            <a:ext cx="2966925" cy="693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11"/>
              </a:lnSpc>
              <a:spcBef>
                <a:spcPct val="0"/>
              </a:spcBef>
            </a:pPr>
            <a:r>
              <a:rPr lang="en-US" b="true" sz="2963" spc="-192" strike="noStrike" u="non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Summary Dashboard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787455" y="4500185"/>
            <a:ext cx="8037912" cy="3476224"/>
            <a:chOff x="0" y="0"/>
            <a:chExt cx="2071830" cy="8960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71830" cy="896022"/>
            </a:xfrm>
            <a:custGeom>
              <a:avLst/>
              <a:gdLst/>
              <a:ahLst/>
              <a:cxnLst/>
              <a:rect r="r" b="b" t="t" l="l"/>
              <a:pathLst>
                <a:path h="896022" w="2071830">
                  <a:moveTo>
                    <a:pt x="48159" y="0"/>
                  </a:moveTo>
                  <a:lnTo>
                    <a:pt x="2023671" y="0"/>
                  </a:lnTo>
                  <a:cubicBezTo>
                    <a:pt x="2050268" y="0"/>
                    <a:pt x="2071830" y="21561"/>
                    <a:pt x="2071830" y="48159"/>
                  </a:cubicBezTo>
                  <a:lnTo>
                    <a:pt x="2071830" y="847863"/>
                  </a:lnTo>
                  <a:cubicBezTo>
                    <a:pt x="2071830" y="874460"/>
                    <a:pt x="2050268" y="896022"/>
                    <a:pt x="2023671" y="896022"/>
                  </a:cubicBezTo>
                  <a:lnTo>
                    <a:pt x="48159" y="896022"/>
                  </a:lnTo>
                  <a:cubicBezTo>
                    <a:pt x="21561" y="896022"/>
                    <a:pt x="0" y="874460"/>
                    <a:pt x="0" y="847863"/>
                  </a:cubicBezTo>
                  <a:lnTo>
                    <a:pt x="0" y="48159"/>
                  </a:lnTo>
                  <a:cubicBezTo>
                    <a:pt x="0" y="21561"/>
                    <a:pt x="21561" y="0"/>
                    <a:pt x="4815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61925"/>
              <a:ext cx="2071830" cy="1057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166589" y="4715798"/>
            <a:ext cx="4141544" cy="68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2861" spc="-185" b="tru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Output Table </a:t>
            </a:r>
            <a:r>
              <a:rPr lang="ar-EG" sz="2861" spc="-185" b="tru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برای هر فرد شامل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3378447" y="735752"/>
            <a:ext cx="169060" cy="169060"/>
          </a:xfrm>
          <a:custGeom>
            <a:avLst/>
            <a:gdLst/>
            <a:ahLst/>
            <a:cxnLst/>
            <a:rect r="r" b="b" t="t" l="l"/>
            <a:pathLst>
              <a:path h="169060" w="169060">
                <a:moveTo>
                  <a:pt x="0" y="0"/>
                </a:moveTo>
                <a:lnTo>
                  <a:pt x="169060" y="0"/>
                </a:lnTo>
                <a:lnTo>
                  <a:pt x="169060" y="169060"/>
                </a:lnTo>
                <a:lnTo>
                  <a:pt x="0" y="1690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936736" y="5315325"/>
            <a:ext cx="2295008" cy="68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4"/>
              </a:lnSpc>
              <a:spcBef>
                <a:spcPct val="0"/>
              </a:spcBef>
            </a:pPr>
            <a:r>
              <a:rPr lang="en-US" b="true" sz="2861" spc="-185" strike="noStrike" u="non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PD، Grade، Status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07041" y="5911932"/>
            <a:ext cx="3792406" cy="68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4"/>
              </a:lnSpc>
              <a:spcBef>
                <a:spcPct val="0"/>
              </a:spcBef>
            </a:pPr>
            <a:r>
              <a:rPr lang="en-US" b="true" sz="2861" spc="-185" strike="noStrike" u="non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Monthly Payment، DTI، PTI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92948" y="6511459"/>
            <a:ext cx="2938796" cy="68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4"/>
              </a:lnSpc>
              <a:spcBef>
                <a:spcPct val="0"/>
              </a:spcBef>
            </a:pPr>
            <a:r>
              <a:rPr lang="en-US" b="true" sz="2861" spc="-185" strike="noStrike" u="non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Reason Codes / Reasons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199848" y="7110985"/>
            <a:ext cx="2031897" cy="68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4"/>
              </a:lnSpc>
              <a:spcBef>
                <a:spcPct val="0"/>
              </a:spcBef>
            </a:pPr>
            <a:r>
              <a:rPr lang="en-US" b="true" sz="2861" spc="-185" strike="noStrike" u="non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Top Risk Factors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1114" y="5237368"/>
            <a:ext cx="6540950" cy="68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04"/>
              </a:lnSpc>
              <a:spcBef>
                <a:spcPct val="0"/>
              </a:spcBef>
            </a:pPr>
            <a:r>
              <a:rPr lang="ar-EG" b="true" sz="2861" spc="-185" strike="noStrike" u="non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تعداد</a:t>
            </a:r>
            <a:r>
              <a:rPr lang="en-US" b="true" sz="2861" spc="-185" strike="noStrike" u="non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 SELECTED/WAITLIST/REVIEW/REJECT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6431" y="5730252"/>
            <a:ext cx="6465633" cy="74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25"/>
              </a:lnSpc>
              <a:spcBef>
                <a:spcPct val="0"/>
              </a:spcBef>
            </a:pPr>
            <a:r>
              <a:rPr lang="en-US" b="true" sz="3167" spc="-205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 Grade  </a:t>
            </a:r>
            <a:r>
              <a:rPr lang="ar-EG" b="true" sz="3167" spc="-205" strike="noStrike" u="non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نمودار آماری کلی و (اختیاری) توزیع</a:t>
            </a:r>
            <a:r>
              <a:rPr lang="en-US" b="true" sz="3167" spc="-205" strike="noStrike" u="non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98837" y="6288855"/>
            <a:ext cx="1783495" cy="840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55"/>
              </a:lnSpc>
              <a:spcBef>
                <a:spcPct val="0"/>
              </a:spcBef>
            </a:pPr>
            <a:r>
              <a:rPr lang="en-US" b="true" sz="3576" spc="-232" strike="noStrike" u="non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Export Files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805305" y="6979037"/>
            <a:ext cx="2946759" cy="74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25"/>
              </a:lnSpc>
              <a:spcBef>
                <a:spcPct val="0"/>
              </a:spcBef>
            </a:pPr>
            <a:r>
              <a:rPr lang="en-US" b="true" sz="3167" spc="-205" strike="noStrike" u="non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results.csv (</a:t>
            </a:r>
            <a:r>
              <a:rPr lang="ar-EG" b="true" sz="3167" spc="-205" strike="noStrike" u="non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کل نتایج</a:t>
            </a:r>
            <a:r>
              <a:rPr lang="en-US" b="true" sz="3167" spc="-205" strike="noStrike" u="non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42464" y="611864"/>
            <a:ext cx="416836" cy="416836"/>
          </a:xfrm>
          <a:custGeom>
            <a:avLst/>
            <a:gdLst/>
            <a:ahLst/>
            <a:cxnLst/>
            <a:rect r="r" b="b" t="t" l="l"/>
            <a:pathLst>
              <a:path h="416836" w="416836">
                <a:moveTo>
                  <a:pt x="0" y="0"/>
                </a:moveTo>
                <a:lnTo>
                  <a:pt x="416836" y="0"/>
                </a:lnTo>
                <a:lnTo>
                  <a:pt x="416836" y="416836"/>
                </a:lnTo>
                <a:lnTo>
                  <a:pt x="0" y="416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424060" y="5465447"/>
            <a:ext cx="9643106" cy="9643106"/>
          </a:xfrm>
          <a:custGeom>
            <a:avLst/>
            <a:gdLst/>
            <a:ahLst/>
            <a:cxnLst/>
            <a:rect r="r" b="b" t="t" l="l"/>
            <a:pathLst>
              <a:path h="9643106" w="9643106">
                <a:moveTo>
                  <a:pt x="0" y="0"/>
                </a:moveTo>
                <a:lnTo>
                  <a:pt x="9643105" y="0"/>
                </a:lnTo>
                <a:lnTo>
                  <a:pt x="9643105" y="9643106"/>
                </a:lnTo>
                <a:lnTo>
                  <a:pt x="0" y="9643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656268" y="1889404"/>
            <a:ext cx="3533899" cy="100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4442"/>
              </a:lnSpc>
            </a:pPr>
            <a:r>
              <a:rPr lang="ar-EG" b="true" sz="4271" spc="-277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پروژه های مشابه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42113" y="552279"/>
            <a:ext cx="813226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Contact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78436" y="552279"/>
            <a:ext cx="751945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67106" y="552279"/>
            <a:ext cx="928073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Services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86033" y="552279"/>
            <a:ext cx="923532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About 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31904" y="552279"/>
            <a:ext cx="917404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73964" y="4412031"/>
            <a:ext cx="2101309" cy="140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799" spc="-181" b="tru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Advisory services for smart investments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58063" y="1018662"/>
            <a:ext cx="9646574" cy="1220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8"/>
              </a:lnSpc>
            </a:pPr>
            <a:r>
              <a:rPr lang="en-US" sz="5171" spc="-33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Review of Similar Projects &amp; Differentiation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60029" y="3961852"/>
            <a:ext cx="2101309" cy="140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799" spc="-181" b="tru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Retirement planning for a secure future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7409890" y="2241829"/>
            <a:ext cx="602218" cy="602218"/>
          </a:xfrm>
          <a:custGeom>
            <a:avLst/>
            <a:gdLst/>
            <a:ahLst/>
            <a:cxnLst/>
            <a:rect r="r" b="b" t="t" l="l"/>
            <a:pathLst>
              <a:path h="602218" w="602218">
                <a:moveTo>
                  <a:pt x="0" y="0"/>
                </a:moveTo>
                <a:lnTo>
                  <a:pt x="602219" y="0"/>
                </a:lnTo>
                <a:lnTo>
                  <a:pt x="602219" y="602218"/>
                </a:lnTo>
                <a:lnTo>
                  <a:pt x="0" y="6022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378447" y="735752"/>
            <a:ext cx="169060" cy="169060"/>
          </a:xfrm>
          <a:custGeom>
            <a:avLst/>
            <a:gdLst/>
            <a:ahLst/>
            <a:cxnLst/>
            <a:rect r="r" b="b" t="t" l="l"/>
            <a:pathLst>
              <a:path h="169060" w="169060">
                <a:moveTo>
                  <a:pt x="0" y="0"/>
                </a:moveTo>
                <a:lnTo>
                  <a:pt x="169060" y="0"/>
                </a:lnTo>
                <a:lnTo>
                  <a:pt x="169060" y="169060"/>
                </a:lnTo>
                <a:lnTo>
                  <a:pt x="0" y="1690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51700" y="2781908"/>
            <a:ext cx="17259300" cy="161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555281" indent="-277641" lvl="1">
              <a:lnSpc>
                <a:spcPts val="3600"/>
              </a:lnSpc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سیستم‌های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Credit Scoring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مبتنی بر مدل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Logistic Regression</a:t>
            </a:r>
          </a:p>
          <a:p>
            <a:pPr algn="r" rtl="true" marL="555281" indent="-277641" lvl="1">
              <a:lnSpc>
                <a:spcPts val="3600"/>
              </a:lnSpc>
              <a:buFont typeface="Arial"/>
              <a:buChar char="•"/>
            </a:pP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Scorecard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های بانکی که مقدار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Probability of Default (PD)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را به گریدهای ریسک تبدیل می‌کنند</a:t>
            </a:r>
          </a:p>
          <a:p>
            <a:pPr algn="r" rtl="true" marL="555281" indent="-277641" lvl="1">
              <a:lnSpc>
                <a:spcPts val="3600"/>
              </a:lnSpc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سیستم‌های ترکیبی شامل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Rule-based Policy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در کنار مدل آماری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44278" y="4447479"/>
            <a:ext cx="5149886" cy="100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4442"/>
              </a:lnSpc>
              <a:spcBef>
                <a:spcPct val="0"/>
              </a:spcBef>
            </a:pPr>
            <a:r>
              <a:rPr lang="ar-EG" b="true" sz="4271" spc="-277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تفاوت‌ها و نقاط قوت پروژه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7409890" y="4707840"/>
            <a:ext cx="602218" cy="602218"/>
          </a:xfrm>
          <a:custGeom>
            <a:avLst/>
            <a:gdLst/>
            <a:ahLst/>
            <a:cxnLst/>
            <a:rect r="r" b="b" t="t" l="l"/>
            <a:pathLst>
              <a:path h="602218" w="602218">
                <a:moveTo>
                  <a:pt x="0" y="0"/>
                </a:moveTo>
                <a:lnTo>
                  <a:pt x="602219" y="0"/>
                </a:lnTo>
                <a:lnTo>
                  <a:pt x="602219" y="602218"/>
                </a:lnTo>
                <a:lnTo>
                  <a:pt x="0" y="6022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7464697" y="5326173"/>
            <a:ext cx="10246302" cy="252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555281" indent="-277641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ستفاده از سیستم تصمیم‌گیری چهارحالته به‌جای تصمیم دوحالته (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Approve / Decline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)</a:t>
            </a:r>
          </a:p>
          <a:p>
            <a:pPr algn="r" rtl="true" marL="555281" indent="-277641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در نظر گرفتن محدودیت ظرفیت (انتخاب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N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نفر) برای شبیه‌سازی تصمیم‌گیری واقع‌بینانه</a:t>
            </a:r>
          </a:p>
          <a:p>
            <a:pPr algn="r" rtl="true" marL="555281" indent="-277641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وجود رابط کاربری تحت وب همراه با نمودارهای آماری و خروجی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CSV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قابل دانلود</a:t>
            </a:r>
          </a:p>
          <a:p>
            <a:pPr algn="r" rtl="true" marL="555281" indent="-277641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اعمال کنترل کیفیت داده و در نظر گرفتن وضعیت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REVIEW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برای داده‌های مشکوک</a:t>
            </a:r>
          </a:p>
          <a:p>
            <a:pPr algn="r" rtl="true" marL="555281" indent="-277641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امکان آموزش مدل با داده تاریخی به‌صورت اختیاری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7409890" y="8089770"/>
            <a:ext cx="602218" cy="602218"/>
          </a:xfrm>
          <a:custGeom>
            <a:avLst/>
            <a:gdLst/>
            <a:ahLst/>
            <a:cxnLst/>
            <a:rect r="r" b="b" t="t" l="l"/>
            <a:pathLst>
              <a:path h="602218" w="602218">
                <a:moveTo>
                  <a:pt x="0" y="0"/>
                </a:moveTo>
                <a:lnTo>
                  <a:pt x="602219" y="0"/>
                </a:lnTo>
                <a:lnTo>
                  <a:pt x="602219" y="602219"/>
                </a:lnTo>
                <a:lnTo>
                  <a:pt x="0" y="602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580771" y="7842120"/>
            <a:ext cx="6713393" cy="100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4442"/>
              </a:lnSpc>
              <a:spcBef>
                <a:spcPct val="0"/>
              </a:spcBef>
            </a:pPr>
            <a:r>
              <a:rPr lang="ar-EG" b="true" sz="4271" spc="-277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نقاط ضعف (با رویکرد واقع‌گرایانه)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88202" y="8568698"/>
            <a:ext cx="6622797" cy="161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555281" indent="-277641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عدم دسترسی به داده‌های واقعی بانکی یا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Credit Bureau</a:t>
            </a:r>
          </a:p>
          <a:p>
            <a:pPr algn="r" rtl="true" marL="555281" indent="-277641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ساده بودن مدل نسبت به سیستم‌های صنعتی</a:t>
            </a:r>
          </a:p>
          <a:p>
            <a:pPr algn="r" rtl="true" marL="555281" indent="-277641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وابستگی نتایج به کیفیت داده‌های ورودی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42464" y="611864"/>
            <a:ext cx="416836" cy="416836"/>
          </a:xfrm>
          <a:custGeom>
            <a:avLst/>
            <a:gdLst/>
            <a:ahLst/>
            <a:cxnLst/>
            <a:rect r="r" b="b" t="t" l="l"/>
            <a:pathLst>
              <a:path h="416836" w="416836">
                <a:moveTo>
                  <a:pt x="0" y="0"/>
                </a:moveTo>
                <a:lnTo>
                  <a:pt x="416836" y="0"/>
                </a:lnTo>
                <a:lnTo>
                  <a:pt x="416836" y="416836"/>
                </a:lnTo>
                <a:lnTo>
                  <a:pt x="0" y="416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424060" y="5465447"/>
            <a:ext cx="9643106" cy="9643106"/>
          </a:xfrm>
          <a:custGeom>
            <a:avLst/>
            <a:gdLst/>
            <a:ahLst/>
            <a:cxnLst/>
            <a:rect r="r" b="b" t="t" l="l"/>
            <a:pathLst>
              <a:path h="9643106" w="9643106">
                <a:moveTo>
                  <a:pt x="0" y="0"/>
                </a:moveTo>
                <a:lnTo>
                  <a:pt x="9643105" y="0"/>
                </a:lnTo>
                <a:lnTo>
                  <a:pt x="9643105" y="9643106"/>
                </a:lnTo>
                <a:lnTo>
                  <a:pt x="0" y="9643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742113" y="552279"/>
            <a:ext cx="813226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Contact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78436" y="552279"/>
            <a:ext cx="751945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67106" y="552279"/>
            <a:ext cx="928073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Services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86033" y="552279"/>
            <a:ext cx="923532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About 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31904" y="552279"/>
            <a:ext cx="917404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73964" y="4412031"/>
            <a:ext cx="2101309" cy="140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799" spc="-181" b="tru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Advisory services for smart investments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90587" y="1123119"/>
            <a:ext cx="10223574" cy="111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62"/>
              </a:lnSpc>
            </a:pPr>
            <a:r>
              <a:rPr lang="en-US" sz="4771" spc="-310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(ChatGPT / LLM) </a:t>
            </a:r>
            <a:r>
              <a:rPr lang="ar-EG" sz="4771" spc="-310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استفاده از مدل‌های زبانی بزرگ</a:t>
            </a:r>
            <a:r>
              <a:rPr lang="en-US" sz="4771" spc="-310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 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7108781" y="2262668"/>
            <a:ext cx="602218" cy="602218"/>
          </a:xfrm>
          <a:custGeom>
            <a:avLst/>
            <a:gdLst/>
            <a:ahLst/>
            <a:cxnLst/>
            <a:rect r="r" b="b" t="t" l="l"/>
            <a:pathLst>
              <a:path h="602218" w="602218">
                <a:moveTo>
                  <a:pt x="0" y="0"/>
                </a:moveTo>
                <a:lnTo>
                  <a:pt x="602219" y="0"/>
                </a:lnTo>
                <a:lnTo>
                  <a:pt x="602219" y="602218"/>
                </a:lnTo>
                <a:lnTo>
                  <a:pt x="0" y="6022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78447" y="735752"/>
            <a:ext cx="169060" cy="169060"/>
          </a:xfrm>
          <a:custGeom>
            <a:avLst/>
            <a:gdLst/>
            <a:ahLst/>
            <a:cxnLst/>
            <a:rect r="r" b="b" t="t" l="l"/>
            <a:pathLst>
              <a:path h="169060" w="169060">
                <a:moveTo>
                  <a:pt x="0" y="0"/>
                </a:moveTo>
                <a:lnTo>
                  <a:pt x="169060" y="0"/>
                </a:lnTo>
                <a:lnTo>
                  <a:pt x="169060" y="169060"/>
                </a:lnTo>
                <a:lnTo>
                  <a:pt x="0" y="1690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51700" y="2835248"/>
            <a:ext cx="17259300" cy="298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555281" indent="-277641" lvl="1">
              <a:lnSpc>
                <a:spcPts val="3600"/>
              </a:lnSpc>
              <a:buFont typeface="Arial"/>
              <a:buChar char="•"/>
            </a:pPr>
            <a:r>
              <a:rPr lang="ar-EG" sz="2571" spc="-167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کمک در طراحی معماری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سیستم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(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Pol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i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cy +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M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o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del + G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r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ad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ing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+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Dec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isi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on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En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gin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e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)</a:t>
            </a:r>
          </a:p>
          <a:p>
            <a:pPr algn="r" rtl="true" marL="555281" indent="-277641" lvl="1">
              <a:lnSpc>
                <a:spcPts val="3600"/>
              </a:lnSpc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پیشن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ها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 ساختار 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تاست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 ویژگی‌ه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ای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کم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یلی</a:t>
            </a:r>
          </a:p>
          <a:p>
            <a:pPr algn="r" rtl="true" marL="555281" indent="-277641" lvl="1">
              <a:lnSpc>
                <a:spcPts val="3600"/>
              </a:lnSpc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تولی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نسخه‌ه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اولیه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کد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سپس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زنویسی و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بهی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ه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‌س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ز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س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تی</a:t>
            </a:r>
          </a:p>
          <a:p>
            <a:pPr algn="r" rtl="true" marL="555281" indent="-277641" lvl="1">
              <a:lnSpc>
                <a:spcPts val="3600"/>
              </a:lnSpc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کم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ک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در عیب‌یا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(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Debugging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) خطاها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(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نند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خطای 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سی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 فایل یا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فسیر نرخ سود)</a:t>
            </a:r>
          </a:p>
          <a:p>
            <a:pPr algn="r" rtl="true" marL="555281" indent="-277641" lvl="1">
              <a:lnSpc>
                <a:spcPts val="3600"/>
              </a:lnSpc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ه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بود ق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بل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ت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وضیح‌پذی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مدل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(عو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امل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ریسک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ل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یل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تص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یم)</a:t>
            </a:r>
          </a:p>
          <a:p>
            <a:pPr algn="r" rtl="true" marL="555281" indent="-277641" lvl="1">
              <a:lnSpc>
                <a:spcPts val="3600"/>
              </a:lnSpc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بهبو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 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ستندس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زی و خوانایی رابط کارب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ری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96807" y="1910243"/>
            <a:ext cx="2761384" cy="100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4442"/>
              </a:lnSpc>
              <a:spcBef>
                <a:spcPct val="0"/>
              </a:spcBef>
            </a:pPr>
            <a:r>
              <a:rPr lang="ar-EG" b="true" sz="4271" spc="-277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موارد استفاده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7108781" y="6065571"/>
            <a:ext cx="602218" cy="602218"/>
          </a:xfrm>
          <a:custGeom>
            <a:avLst/>
            <a:gdLst/>
            <a:ahLst/>
            <a:cxnLst/>
            <a:rect r="r" b="b" t="t" l="l"/>
            <a:pathLst>
              <a:path h="602218" w="602218">
                <a:moveTo>
                  <a:pt x="0" y="0"/>
                </a:moveTo>
                <a:lnTo>
                  <a:pt x="602219" y="0"/>
                </a:lnTo>
                <a:lnTo>
                  <a:pt x="602219" y="602218"/>
                </a:lnTo>
                <a:lnTo>
                  <a:pt x="0" y="6022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6050393" y="5713146"/>
            <a:ext cx="907797" cy="100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4442"/>
              </a:lnSpc>
              <a:spcBef>
                <a:spcPct val="0"/>
              </a:spcBef>
            </a:pPr>
            <a:r>
              <a:rPr lang="ar-EG" b="true" sz="4271" spc="-277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م</a:t>
            </a:r>
            <a:r>
              <a:rPr lang="ar-EG" b="true" sz="4271" spc="-277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ز</a:t>
            </a:r>
            <a:r>
              <a:rPr lang="ar-EG" b="true" sz="4271" spc="-277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ا</a:t>
            </a:r>
            <a:r>
              <a:rPr lang="ar-EG" b="true" sz="4271" spc="-277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ی</a:t>
            </a:r>
            <a:r>
              <a:rPr lang="ar-EG" b="true" sz="4271" spc="-277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ا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73806" y="6635356"/>
            <a:ext cx="3941293" cy="161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555281" indent="-277641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افزایش سرعت توسعه پروژه</a:t>
            </a:r>
          </a:p>
          <a:p>
            <a:pPr algn="r" rtl="true" marL="555281" indent="-277641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کاهش زمان آزمون و خطا</a:t>
            </a:r>
          </a:p>
          <a:p>
            <a:pPr algn="r" rtl="true" marL="555281" indent="-277641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مستندسازی شفاف‌تر و منظم‌تر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7112881" y="8451255"/>
            <a:ext cx="602218" cy="602218"/>
          </a:xfrm>
          <a:custGeom>
            <a:avLst/>
            <a:gdLst/>
            <a:ahLst/>
            <a:cxnLst/>
            <a:rect r="r" b="b" t="t" l="l"/>
            <a:pathLst>
              <a:path h="602218" w="602218">
                <a:moveTo>
                  <a:pt x="0" y="0"/>
                </a:moveTo>
                <a:lnTo>
                  <a:pt x="602218" y="0"/>
                </a:lnTo>
                <a:lnTo>
                  <a:pt x="602218" y="602219"/>
                </a:lnTo>
                <a:lnTo>
                  <a:pt x="0" y="602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478335" y="8141654"/>
            <a:ext cx="2479856" cy="100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4442"/>
              </a:lnSpc>
              <a:spcBef>
                <a:spcPct val="0"/>
              </a:spcBef>
            </a:pPr>
            <a:r>
              <a:rPr lang="ar-EG" b="true" sz="4271" spc="-277" strike="noStrike" u="none">
                <a:solidFill>
                  <a:srgbClr val="FFFFFF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محدودیت‌ها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51305" y="8953500"/>
            <a:ext cx="9159695" cy="115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555281" indent="-277641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یشنهادهای ارائه‌شده توسط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LLM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نیازمند بررسی و اعتبارسنجی انسانی بوده‌اند</a:t>
            </a:r>
          </a:p>
          <a:p>
            <a:pPr algn="r" rtl="true" marL="555281" indent="-277641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محاسبات مالی و منطق تصمیم‌گیری به‌صورت مستقل بررسی و تأیید شده‌اند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42464" y="611864"/>
            <a:ext cx="416836" cy="416836"/>
          </a:xfrm>
          <a:custGeom>
            <a:avLst/>
            <a:gdLst/>
            <a:ahLst/>
            <a:cxnLst/>
            <a:rect r="r" b="b" t="t" l="l"/>
            <a:pathLst>
              <a:path h="416836" w="416836">
                <a:moveTo>
                  <a:pt x="0" y="0"/>
                </a:moveTo>
                <a:lnTo>
                  <a:pt x="416836" y="0"/>
                </a:lnTo>
                <a:lnTo>
                  <a:pt x="416836" y="416836"/>
                </a:lnTo>
                <a:lnTo>
                  <a:pt x="0" y="416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424060" y="5465447"/>
            <a:ext cx="9643106" cy="9643106"/>
          </a:xfrm>
          <a:custGeom>
            <a:avLst/>
            <a:gdLst/>
            <a:ahLst/>
            <a:cxnLst/>
            <a:rect r="r" b="b" t="t" l="l"/>
            <a:pathLst>
              <a:path h="9643106" w="9643106">
                <a:moveTo>
                  <a:pt x="0" y="0"/>
                </a:moveTo>
                <a:lnTo>
                  <a:pt x="9643105" y="0"/>
                </a:lnTo>
                <a:lnTo>
                  <a:pt x="9643105" y="9643106"/>
                </a:lnTo>
                <a:lnTo>
                  <a:pt x="0" y="9643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742113" y="552279"/>
            <a:ext cx="813226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Contact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78436" y="552279"/>
            <a:ext cx="751945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67106" y="552279"/>
            <a:ext cx="928073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Services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86033" y="552279"/>
            <a:ext cx="923532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About 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31904" y="552279"/>
            <a:ext cx="917404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73964" y="4412031"/>
            <a:ext cx="2101309" cy="140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799" spc="-181" b="tru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Advisory services for smart investments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38054" y="1146529"/>
            <a:ext cx="6211891" cy="111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62"/>
              </a:lnSpc>
            </a:pPr>
            <a:r>
              <a:rPr lang="en-US" sz="4771" spc="-310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Encountered Problems &amp; Fixes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3378447" y="735752"/>
            <a:ext cx="169060" cy="169060"/>
          </a:xfrm>
          <a:custGeom>
            <a:avLst/>
            <a:gdLst/>
            <a:ahLst/>
            <a:cxnLst/>
            <a:rect r="r" b="b" t="t" l="l"/>
            <a:pathLst>
              <a:path h="169060" w="169060">
                <a:moveTo>
                  <a:pt x="0" y="0"/>
                </a:moveTo>
                <a:lnTo>
                  <a:pt x="169060" y="0"/>
                </a:lnTo>
                <a:lnTo>
                  <a:pt x="169060" y="169060"/>
                </a:lnTo>
                <a:lnTo>
                  <a:pt x="0" y="1690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080399" y="2024543"/>
            <a:ext cx="14811267" cy="667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2986"/>
              </a:lnSpc>
              <a:spcBef>
                <a:spcPct val="0"/>
              </a:spcBef>
            </a:pPr>
            <a:r>
              <a:rPr lang="ar-EG" sz="2871" spc="-186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در فرآیند توسعه </a:t>
            </a:r>
            <a:r>
              <a:rPr lang="ar-EG" sz="2871" spc="-18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</a:t>
            </a:r>
            <a:r>
              <a:rPr lang="ar-EG" sz="2871" spc="-18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پی</a:t>
            </a:r>
            <a:r>
              <a:rPr lang="ar-EG" sz="2871" spc="-18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871" spc="-18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ده‌سازی پ</a:t>
            </a:r>
            <a:r>
              <a:rPr lang="ar-EG" sz="2871" spc="-18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</a:t>
            </a:r>
            <a:r>
              <a:rPr lang="ar-EG" sz="2871" spc="-18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وژه، برخی</a:t>
            </a:r>
            <a:r>
              <a:rPr lang="ar-EG" sz="2871" spc="-18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871" spc="-18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مشکل</a:t>
            </a:r>
            <a:r>
              <a:rPr lang="ar-EG" sz="2871" spc="-18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ات</a:t>
            </a:r>
            <a:r>
              <a:rPr lang="ar-EG" sz="2871" spc="-18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871" spc="-18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ف</a:t>
            </a:r>
            <a:r>
              <a:rPr lang="ar-EG" sz="2871" spc="-18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نی و مفهومی به وجود آمد که مهم‌ترین آن‌ه</a:t>
            </a:r>
            <a:r>
              <a:rPr lang="ar-EG" sz="2871" spc="-18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871" spc="-18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871" spc="-18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</a:t>
            </a:r>
            <a:r>
              <a:rPr lang="ar-EG" sz="2871" spc="-18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 ادام</a:t>
            </a:r>
            <a:r>
              <a:rPr lang="ar-EG" sz="2871" spc="-18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ه</a:t>
            </a:r>
            <a:r>
              <a:rPr lang="ar-EG" sz="2871" spc="-186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بیان شده است: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972959" y="2927629"/>
            <a:ext cx="602218" cy="602218"/>
          </a:xfrm>
          <a:custGeom>
            <a:avLst/>
            <a:gdLst/>
            <a:ahLst/>
            <a:cxnLst/>
            <a:rect r="r" b="b" t="t" l="l"/>
            <a:pathLst>
              <a:path h="602218" w="602218">
                <a:moveTo>
                  <a:pt x="0" y="0"/>
                </a:moveTo>
                <a:lnTo>
                  <a:pt x="602218" y="0"/>
                </a:lnTo>
                <a:lnTo>
                  <a:pt x="602218" y="602218"/>
                </a:lnTo>
                <a:lnTo>
                  <a:pt x="0" y="6022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407168" y="3520602"/>
            <a:ext cx="7565792" cy="298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600"/>
              </a:lnSpc>
            </a:pPr>
            <a:r>
              <a:rPr lang="ar-EG" sz="2571" spc="-167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علت: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شتباه در مسیر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فای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ل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داده تا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یخی یا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ع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دم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طابق نام فایل</a:t>
            </a:r>
          </a:p>
          <a:p>
            <a:pPr algn="r" rtl="true">
              <a:lnSpc>
                <a:spcPts val="3600"/>
              </a:lnSpc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تأثیر: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تو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قف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ف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آی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آ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مو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ز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ش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دل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عدم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لید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خ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روجی</a:t>
            </a:r>
          </a:p>
          <a:p>
            <a:pPr algn="r" rtl="true">
              <a:lnSpc>
                <a:spcPts val="3600"/>
              </a:lnSpc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ه‌حل:</a:t>
            </a:r>
          </a:p>
          <a:p>
            <a:pPr algn="r" rtl="true">
              <a:lnSpc>
                <a:spcPts val="3600"/>
              </a:lnSpc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بررسی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مس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یرهای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نس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بی و مطلق</a:t>
            </a:r>
          </a:p>
          <a:p>
            <a:pPr algn="r" rtl="true">
              <a:lnSpc>
                <a:spcPts val="3600"/>
              </a:lnSpc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ف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ز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ودن پیام خطا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 شفاف و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راهن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ای 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تخاب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سی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صحیح</a:t>
            </a:r>
          </a:p>
          <a:p>
            <a:pPr algn="r" rtl="true">
              <a:lnSpc>
                <a:spcPts val="3600"/>
              </a:lnSpc>
            </a:pP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7093878" y="6142388"/>
            <a:ext cx="602218" cy="602218"/>
          </a:xfrm>
          <a:custGeom>
            <a:avLst/>
            <a:gdLst/>
            <a:ahLst/>
            <a:cxnLst/>
            <a:rect r="r" b="b" t="t" l="l"/>
            <a:pathLst>
              <a:path h="602218" w="602218">
                <a:moveTo>
                  <a:pt x="0" y="0"/>
                </a:moveTo>
                <a:lnTo>
                  <a:pt x="602218" y="0"/>
                </a:lnTo>
                <a:lnTo>
                  <a:pt x="602218" y="602218"/>
                </a:lnTo>
                <a:lnTo>
                  <a:pt x="0" y="6022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230532" y="6620164"/>
            <a:ext cx="7820350" cy="389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600"/>
              </a:lnSpc>
            </a:pPr>
            <a:r>
              <a:rPr lang="ar-EG" sz="2571" spc="-167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علت‌ها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حتم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ل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:</a:t>
            </a:r>
          </a:p>
          <a:p>
            <a:pPr algn="r" rtl="true">
              <a:lnSpc>
                <a:spcPts val="3600"/>
              </a:lnSpc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ختل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ف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و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احد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پول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(ر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ل / تو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)</a:t>
            </a:r>
          </a:p>
          <a:p>
            <a:pPr algn="r" rtl="true">
              <a:lnSpc>
                <a:spcPts val="3600"/>
              </a:lnSpc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وار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ک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دن ن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خ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س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به‌ص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رت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درصد (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۱۸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)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ه‌جای مقد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ار 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عش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(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۰٫۱۸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)</a:t>
            </a:r>
          </a:p>
          <a:p>
            <a:pPr algn="r" rtl="true">
              <a:lnSpc>
                <a:spcPts val="3600"/>
              </a:lnSpc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ه‌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حل:</a:t>
            </a:r>
          </a:p>
          <a:p>
            <a:pPr algn="r" rtl="true">
              <a:lnSpc>
                <a:spcPts val="3600"/>
              </a:lnSpc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فزو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 کنترل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عت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 برای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مال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‌ساز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نرخ س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</a:t>
            </a:r>
          </a:p>
          <a:p>
            <a:pPr algn="r" rtl="true">
              <a:lnSpc>
                <a:spcPts val="3600"/>
              </a:lnSpc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بهبود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ایش اعداد در راب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ط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کاربری (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ق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اس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ده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و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قال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بندی)</a:t>
            </a:r>
          </a:p>
          <a:p>
            <a:pPr algn="r" rtl="true">
              <a:lnSpc>
                <a:spcPts val="3600"/>
              </a:lnSpc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مست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ندسازی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ص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یح ف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ض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ات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مرب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ط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ه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و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ح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پول</a:t>
            </a:r>
          </a:p>
          <a:p>
            <a:pPr algn="r" rtl="true">
              <a:lnSpc>
                <a:spcPts val="360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5243951" y="2575204"/>
            <a:ext cx="11613281" cy="100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4442"/>
              </a:lnSpc>
              <a:spcBef>
                <a:spcPct val="0"/>
              </a:spcBef>
            </a:pPr>
            <a:r>
              <a:rPr lang="en-US" sz="4271" spc="-27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Problem 1: FileNotFoundError during training pipeline execution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73964" y="5923759"/>
            <a:ext cx="8365223" cy="100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4442"/>
              </a:lnSpc>
              <a:spcBef>
                <a:spcPct val="0"/>
              </a:spcBef>
            </a:pPr>
            <a:r>
              <a:rPr lang="en-US" sz="4271" spc="-27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Problem 2: Unrealistic Monthly Payment values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42464" y="611864"/>
            <a:ext cx="416836" cy="416836"/>
          </a:xfrm>
          <a:custGeom>
            <a:avLst/>
            <a:gdLst/>
            <a:ahLst/>
            <a:cxnLst/>
            <a:rect r="r" b="b" t="t" l="l"/>
            <a:pathLst>
              <a:path h="416836" w="416836">
                <a:moveTo>
                  <a:pt x="0" y="0"/>
                </a:moveTo>
                <a:lnTo>
                  <a:pt x="416836" y="0"/>
                </a:lnTo>
                <a:lnTo>
                  <a:pt x="416836" y="416836"/>
                </a:lnTo>
                <a:lnTo>
                  <a:pt x="0" y="416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424060" y="5465447"/>
            <a:ext cx="9643106" cy="9643106"/>
          </a:xfrm>
          <a:custGeom>
            <a:avLst/>
            <a:gdLst/>
            <a:ahLst/>
            <a:cxnLst/>
            <a:rect r="r" b="b" t="t" l="l"/>
            <a:pathLst>
              <a:path h="9643106" w="9643106">
                <a:moveTo>
                  <a:pt x="0" y="0"/>
                </a:moveTo>
                <a:lnTo>
                  <a:pt x="9643105" y="0"/>
                </a:lnTo>
                <a:lnTo>
                  <a:pt x="9643105" y="9643106"/>
                </a:lnTo>
                <a:lnTo>
                  <a:pt x="0" y="9643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742113" y="552279"/>
            <a:ext cx="813226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Contact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78436" y="552279"/>
            <a:ext cx="751945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67106" y="552279"/>
            <a:ext cx="928073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Services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86033" y="552279"/>
            <a:ext cx="923532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About 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31904" y="552279"/>
            <a:ext cx="917404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73964" y="4412031"/>
            <a:ext cx="2101309" cy="140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799" spc="-181" b="tru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Advisory services for smart investments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38054" y="1146529"/>
            <a:ext cx="6211891" cy="111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62"/>
              </a:lnSpc>
            </a:pPr>
            <a:r>
              <a:rPr lang="en-US" sz="4771" spc="-310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Encountered Problems &amp; Fixes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3378447" y="735752"/>
            <a:ext cx="169060" cy="169060"/>
          </a:xfrm>
          <a:custGeom>
            <a:avLst/>
            <a:gdLst/>
            <a:ahLst/>
            <a:cxnLst/>
            <a:rect r="r" b="b" t="t" l="l"/>
            <a:pathLst>
              <a:path h="169060" w="169060">
                <a:moveTo>
                  <a:pt x="0" y="0"/>
                </a:moveTo>
                <a:lnTo>
                  <a:pt x="169060" y="0"/>
                </a:lnTo>
                <a:lnTo>
                  <a:pt x="169060" y="169060"/>
                </a:lnTo>
                <a:lnTo>
                  <a:pt x="0" y="1690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050882" y="2511572"/>
            <a:ext cx="602218" cy="602218"/>
          </a:xfrm>
          <a:custGeom>
            <a:avLst/>
            <a:gdLst/>
            <a:ahLst/>
            <a:cxnLst/>
            <a:rect r="r" b="b" t="t" l="l"/>
            <a:pathLst>
              <a:path h="602218" w="602218">
                <a:moveTo>
                  <a:pt x="0" y="0"/>
                </a:moveTo>
                <a:lnTo>
                  <a:pt x="602218" y="0"/>
                </a:lnTo>
                <a:lnTo>
                  <a:pt x="602218" y="602218"/>
                </a:lnTo>
                <a:lnTo>
                  <a:pt x="0" y="6022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485091" y="3077998"/>
            <a:ext cx="7565792" cy="298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1">
              <a:lnSpc>
                <a:spcPts val="3600"/>
              </a:lnSpc>
              <a:spcBef>
                <a:spcPct val="0"/>
              </a:spcBef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علت: خطای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FileNotFoundError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 در اجرای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train-file</a:t>
            </a:r>
          </a:p>
          <a:p>
            <a:pPr algn="r" rtl="true" marL="0" indent="0" lvl="1">
              <a:lnSpc>
                <a:spcPts val="3600"/>
              </a:lnSpc>
              <a:spcBef>
                <a:spcPct val="0"/>
              </a:spcBef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تأثیر: كل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pipeline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آموزش 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توقف میش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 و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هیچ خروجی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تولید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شد</a:t>
            </a:r>
          </a:p>
          <a:p>
            <a:pPr algn="r" rtl="true" marL="0" indent="0" lvl="1">
              <a:lnSpc>
                <a:spcPts val="3600"/>
              </a:lnSpc>
              <a:spcBef>
                <a:spcPct val="0"/>
              </a:spcBef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راه‌حل:</a:t>
            </a:r>
          </a:p>
          <a:p>
            <a:pPr algn="r" rtl="true">
              <a:lnSpc>
                <a:spcPts val="3600"/>
              </a:lnSpc>
              <a:spcBef>
                <a:spcPct val="0"/>
              </a:spcBef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ررسی مسیر نسبی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/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مطلق</a:t>
            </a:r>
          </a:p>
          <a:p>
            <a:pPr algn="r" rtl="true" marL="0" indent="0" lvl="1">
              <a:lnSpc>
                <a:spcPts val="3600"/>
              </a:lnSpc>
              <a:spcBef>
                <a:spcPct val="0"/>
              </a:spcBef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اض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اف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ه کر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دن پیام خطای شفاف و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پ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ش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ه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مسیر صحیح</a:t>
            </a:r>
          </a:p>
          <a:p>
            <a:pPr algn="r" rtl="true" marL="0" indent="0" lvl="1">
              <a:lnSpc>
                <a:spcPts val="3600"/>
              </a:lnSpc>
              <a:spcBef>
                <a:spcPct val="0"/>
              </a:spcBef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7093878" y="6142388"/>
            <a:ext cx="602218" cy="602218"/>
          </a:xfrm>
          <a:custGeom>
            <a:avLst/>
            <a:gdLst/>
            <a:ahLst/>
            <a:cxnLst/>
            <a:rect r="r" b="b" t="t" l="l"/>
            <a:pathLst>
              <a:path h="602218" w="602218">
                <a:moveTo>
                  <a:pt x="0" y="0"/>
                </a:moveTo>
                <a:lnTo>
                  <a:pt x="602218" y="0"/>
                </a:lnTo>
                <a:lnTo>
                  <a:pt x="602218" y="602218"/>
                </a:lnTo>
                <a:lnTo>
                  <a:pt x="0" y="6022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545507" y="6731482"/>
            <a:ext cx="7505376" cy="3439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600"/>
              </a:lnSpc>
              <a:spcBef>
                <a:spcPct val="0"/>
              </a:spcBef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علت‌های احتمالی:</a:t>
            </a:r>
          </a:p>
          <a:p>
            <a:pPr algn="r" rtl="true">
              <a:lnSpc>
                <a:spcPts val="3600"/>
              </a:lnSpc>
              <a:spcBef>
                <a:spcPct val="0"/>
              </a:spcBef>
            </a:pP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1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.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تفاوت واحد پول ریال (تومان) باعث میشود عدد بزرگ به نظر برسد </a:t>
            </a:r>
          </a:p>
          <a:p>
            <a:pPr algn="r" rtl="true" marL="0" indent="0" lvl="1">
              <a:lnSpc>
                <a:spcPts val="3600"/>
              </a:lnSpc>
              <a:spcBef>
                <a:spcPct val="0"/>
              </a:spcBef>
            </a:pP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2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. اشت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ه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رایج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کر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 ن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خ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18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به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جای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0.18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(ی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ع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11800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)</a:t>
            </a:r>
          </a:p>
          <a:p>
            <a:pPr algn="r" rtl="true" marL="0" indent="0" lvl="1">
              <a:lnSpc>
                <a:spcPts val="3600"/>
              </a:lnSpc>
              <a:spcBef>
                <a:spcPct val="0"/>
              </a:spcBef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راه‌حل:</a:t>
            </a:r>
          </a:p>
          <a:p>
            <a:pPr algn="r" rtl="true">
              <a:lnSpc>
                <a:spcPts val="3600"/>
              </a:lnSpc>
              <a:spcBef>
                <a:spcPct val="0"/>
              </a:spcBef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فزودن کنترل 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2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&lt;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annual_rate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&lt;- تقسیم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100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(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ف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ض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صد)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</a:p>
          <a:p>
            <a:pPr algn="r" rtl="true" marL="0" indent="0" lvl="1">
              <a:lnSpc>
                <a:spcPts val="3600"/>
              </a:lnSpc>
              <a:spcBef>
                <a:spcPct val="0"/>
              </a:spcBef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بهبود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الا برای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نمایش عدد با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جد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ک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نند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ه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هزا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و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Scale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یشی</a:t>
            </a:r>
          </a:p>
          <a:p>
            <a:pPr algn="r" rtl="true" marL="0" indent="0" lvl="1">
              <a:lnSpc>
                <a:spcPts val="360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9231904" y="2166079"/>
            <a:ext cx="7688483" cy="100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4442"/>
              </a:lnSpc>
              <a:spcBef>
                <a:spcPct val="0"/>
              </a:spcBef>
            </a:pPr>
            <a:r>
              <a:rPr lang="ar-EG" sz="4271" spc="-27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en-US" sz="4271" spc="-27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Problem 3 : Encountered Problems &amp; Fixes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553591" y="5816002"/>
            <a:ext cx="5366796" cy="100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4442"/>
              </a:lnSpc>
              <a:spcBef>
                <a:spcPct val="0"/>
              </a:spcBef>
            </a:pPr>
            <a:r>
              <a:rPr lang="en-US" sz="4271" spc="-27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Problem 4 : </a:t>
            </a:r>
            <a:r>
              <a:rPr lang="en-US" sz="4271" spc="-27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 Monthly Payment</a:t>
            </a:r>
            <a:r>
              <a:rPr lang="ar-EG" sz="4271" spc="-27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42464" y="611864"/>
            <a:ext cx="416836" cy="416836"/>
          </a:xfrm>
          <a:custGeom>
            <a:avLst/>
            <a:gdLst/>
            <a:ahLst/>
            <a:cxnLst/>
            <a:rect r="r" b="b" t="t" l="l"/>
            <a:pathLst>
              <a:path h="416836" w="416836">
                <a:moveTo>
                  <a:pt x="0" y="0"/>
                </a:moveTo>
                <a:lnTo>
                  <a:pt x="416836" y="0"/>
                </a:lnTo>
                <a:lnTo>
                  <a:pt x="416836" y="416836"/>
                </a:lnTo>
                <a:lnTo>
                  <a:pt x="0" y="416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322447" y="4650156"/>
            <a:ext cx="9643106" cy="9643106"/>
          </a:xfrm>
          <a:custGeom>
            <a:avLst/>
            <a:gdLst/>
            <a:ahLst/>
            <a:cxnLst/>
            <a:rect r="r" b="b" t="t" l="l"/>
            <a:pathLst>
              <a:path h="9643106" w="9643106">
                <a:moveTo>
                  <a:pt x="0" y="0"/>
                </a:moveTo>
                <a:lnTo>
                  <a:pt x="9643106" y="0"/>
                </a:lnTo>
                <a:lnTo>
                  <a:pt x="9643106" y="9643106"/>
                </a:lnTo>
                <a:lnTo>
                  <a:pt x="0" y="9643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742113" y="552279"/>
            <a:ext cx="813226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Contact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78436" y="552279"/>
            <a:ext cx="751945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67106" y="552279"/>
            <a:ext cx="928073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Services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86033" y="552279"/>
            <a:ext cx="923532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About 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31904" y="552279"/>
            <a:ext cx="917404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73964" y="4412031"/>
            <a:ext cx="2101309" cy="140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799" spc="-181" b="true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Advisory services for smart investments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38054" y="1146529"/>
            <a:ext cx="7479690" cy="111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62"/>
              </a:lnSpc>
            </a:pPr>
            <a:r>
              <a:rPr lang="en-US" sz="4771" spc="-310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Lessons Learned (Individual &amp; Team)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3378447" y="735752"/>
            <a:ext cx="169060" cy="169060"/>
          </a:xfrm>
          <a:custGeom>
            <a:avLst/>
            <a:gdLst/>
            <a:ahLst/>
            <a:cxnLst/>
            <a:rect r="r" b="b" t="t" l="l"/>
            <a:pathLst>
              <a:path h="169060" w="169060">
                <a:moveTo>
                  <a:pt x="0" y="0"/>
                </a:moveTo>
                <a:lnTo>
                  <a:pt x="169060" y="0"/>
                </a:lnTo>
                <a:lnTo>
                  <a:pt x="169060" y="169060"/>
                </a:lnTo>
                <a:lnTo>
                  <a:pt x="0" y="1690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050882" y="2511572"/>
            <a:ext cx="602218" cy="602218"/>
          </a:xfrm>
          <a:custGeom>
            <a:avLst/>
            <a:gdLst/>
            <a:ahLst/>
            <a:cxnLst/>
            <a:rect r="r" b="b" t="t" l="l"/>
            <a:pathLst>
              <a:path h="602218" w="602218">
                <a:moveTo>
                  <a:pt x="0" y="0"/>
                </a:moveTo>
                <a:lnTo>
                  <a:pt x="602218" y="0"/>
                </a:lnTo>
                <a:lnTo>
                  <a:pt x="602218" y="602218"/>
                </a:lnTo>
                <a:lnTo>
                  <a:pt x="0" y="6022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485091" y="2992273"/>
            <a:ext cx="7565792" cy="385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555281" indent="-277641" lvl="1">
              <a:lnSpc>
                <a:spcPts val="4809"/>
              </a:lnSpc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ط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ح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یک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D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e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cisi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on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E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ngine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واقعی‌ت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 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ز ص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ف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ً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ک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مدل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ML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است.</a:t>
            </a:r>
          </a:p>
          <a:p>
            <a:pPr algn="r" rtl="true" marL="555281" indent="-277641" lvl="1">
              <a:lnSpc>
                <a:spcPts val="4809"/>
              </a:lnSpc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اهمیت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t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u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re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s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ثل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DTI/PTI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و اثر مستق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در تص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م.</a:t>
            </a:r>
          </a:p>
          <a:p>
            <a:pPr algn="r" rtl="true" marL="555281" indent="-277641" lvl="1">
              <a:lnSpc>
                <a:spcPts val="4809"/>
              </a:lnSpc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تفا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وت "ری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سک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پای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ن"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با "توان پرداخت" و این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که هر دو لاز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‌ان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.</a:t>
            </a:r>
          </a:p>
          <a:p>
            <a:pPr algn="r" rtl="true" marL="555281" indent="-277641" lvl="1">
              <a:lnSpc>
                <a:spcPts val="4809"/>
              </a:lnSpc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اه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میت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Data Quality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و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ح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ل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REVIEW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برای سیستم‌های واقعی.</a:t>
            </a:r>
          </a:p>
          <a:p>
            <a:pPr algn="r" rtl="true" marL="555281" indent="-277641" lvl="1">
              <a:lnSpc>
                <a:spcPts val="4809"/>
              </a:lnSpc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ه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میت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Explainability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در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پروژه‌ه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ای مالی.</a:t>
            </a:r>
          </a:p>
          <a:p>
            <a:pPr algn="r" rtl="true" marL="0" indent="0" lvl="1">
              <a:lnSpc>
                <a:spcPts val="4809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7009429" y="6650102"/>
            <a:ext cx="602218" cy="602218"/>
          </a:xfrm>
          <a:custGeom>
            <a:avLst/>
            <a:gdLst/>
            <a:ahLst/>
            <a:cxnLst/>
            <a:rect r="r" b="b" t="t" l="l"/>
            <a:pathLst>
              <a:path h="602218" w="602218">
                <a:moveTo>
                  <a:pt x="0" y="0"/>
                </a:moveTo>
                <a:lnTo>
                  <a:pt x="602218" y="0"/>
                </a:lnTo>
                <a:lnTo>
                  <a:pt x="602218" y="602218"/>
                </a:lnTo>
                <a:lnTo>
                  <a:pt x="0" y="6022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038533" y="7256178"/>
            <a:ext cx="7012349" cy="260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555281" indent="-277641" lvl="1">
              <a:lnSpc>
                <a:spcPts val="4732"/>
              </a:lnSpc>
              <a:buFont typeface="Arial"/>
              <a:buChar char="•"/>
            </a:pPr>
            <a:r>
              <a:rPr lang="ar-EG" sz="2571" spc="-167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گزارش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نو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س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و ارائه خروجی قابل فهم به مخاطب غیر فنی.</a:t>
            </a:r>
          </a:p>
          <a:p>
            <a:pPr algn="r" rtl="true" marL="555281" indent="-277641" lvl="1">
              <a:lnSpc>
                <a:spcPts val="4732"/>
              </a:lnSpc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مدیریت خطا و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پی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های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ک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اربر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پس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ن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د.</a:t>
            </a:r>
          </a:p>
          <a:p>
            <a:pPr algn="r" rtl="true" marL="555281" indent="-277641" lvl="1">
              <a:lnSpc>
                <a:spcPts val="4732"/>
              </a:lnSpc>
              <a:buFont typeface="Arial"/>
              <a:buChar char="•"/>
            </a:pP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سا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خ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یک </a:t>
            </a:r>
            <a:r>
              <a:rPr lang="en-US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</a:rPr>
              <a:t>UI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سا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ه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ا کاربرد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برای نمایش نتای</a:t>
            </a:r>
            <a:r>
              <a:rPr lang="ar-EG" sz="2571" spc="-16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ج.</a:t>
            </a:r>
          </a:p>
          <a:p>
            <a:pPr algn="r" rtl="true" marL="0" indent="0" lvl="1">
              <a:lnSpc>
                <a:spcPts val="4732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4936999" y="2162518"/>
            <a:ext cx="1983388" cy="100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4442"/>
              </a:lnSpc>
              <a:spcBef>
                <a:spcPct val="0"/>
              </a:spcBef>
            </a:pPr>
            <a:r>
              <a:rPr lang="ar-EG" sz="4271" spc="-277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دانش</a:t>
            </a:r>
            <a:r>
              <a:rPr lang="ar-EG" sz="4271" spc="-27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فنی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936999" y="6323716"/>
            <a:ext cx="1898939" cy="156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4442"/>
              </a:lnSpc>
              <a:spcBef>
                <a:spcPct val="0"/>
              </a:spcBef>
            </a:pPr>
            <a:r>
              <a:rPr lang="ar-EG" sz="4271" spc="-277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مهارت</a:t>
            </a:r>
            <a:r>
              <a:rPr lang="ar-EG" sz="4271" spc="-277" strike="noStrike" u="none">
                <a:solidFill>
                  <a:srgbClr val="FFFFFF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 نرم</a:t>
            </a:r>
          </a:p>
          <a:p>
            <a:pPr algn="r" rtl="true" marL="0" indent="0" lvl="0">
              <a:lnSpc>
                <a:spcPts val="444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42464" y="611864"/>
            <a:ext cx="416836" cy="416836"/>
          </a:xfrm>
          <a:custGeom>
            <a:avLst/>
            <a:gdLst/>
            <a:ahLst/>
            <a:cxnLst/>
            <a:rect r="r" b="b" t="t" l="l"/>
            <a:pathLst>
              <a:path h="416836" w="416836">
                <a:moveTo>
                  <a:pt x="0" y="0"/>
                </a:moveTo>
                <a:lnTo>
                  <a:pt x="416836" y="0"/>
                </a:lnTo>
                <a:lnTo>
                  <a:pt x="416836" y="416836"/>
                </a:lnTo>
                <a:lnTo>
                  <a:pt x="0" y="416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954074" y="1593302"/>
            <a:ext cx="1558272" cy="1552605"/>
          </a:xfrm>
          <a:custGeom>
            <a:avLst/>
            <a:gdLst/>
            <a:ahLst/>
            <a:cxnLst/>
            <a:rect r="r" b="b" t="t" l="l"/>
            <a:pathLst>
              <a:path h="1552605" w="1558272">
                <a:moveTo>
                  <a:pt x="0" y="0"/>
                </a:moveTo>
                <a:lnTo>
                  <a:pt x="1558271" y="0"/>
                </a:lnTo>
                <a:lnTo>
                  <a:pt x="1558271" y="1552605"/>
                </a:lnTo>
                <a:lnTo>
                  <a:pt x="0" y="15526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378018" y="6028977"/>
            <a:ext cx="9643106" cy="9643106"/>
          </a:xfrm>
          <a:custGeom>
            <a:avLst/>
            <a:gdLst/>
            <a:ahLst/>
            <a:cxnLst/>
            <a:rect r="r" b="b" t="t" l="l"/>
            <a:pathLst>
              <a:path h="9643106" w="9643106">
                <a:moveTo>
                  <a:pt x="0" y="0"/>
                </a:moveTo>
                <a:lnTo>
                  <a:pt x="9643106" y="0"/>
                </a:lnTo>
                <a:lnTo>
                  <a:pt x="9643106" y="9643106"/>
                </a:lnTo>
                <a:lnTo>
                  <a:pt x="0" y="96431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2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222338" y="5124507"/>
            <a:ext cx="2664360" cy="3806228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18571" t="0" r="-1857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160666" y="4001447"/>
            <a:ext cx="2664360" cy="3806228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9"/>
              <a:stretch>
                <a:fillRect l="0" t="-2739" r="0" b="-2739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963075" y="4965027"/>
            <a:ext cx="2664360" cy="3806228"/>
            <a:chOff x="0" y="0"/>
            <a:chExt cx="4445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10"/>
              <a:stretch>
                <a:fillRect l="-10909" t="0" r="-10909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903660" y="3962081"/>
            <a:ext cx="2664360" cy="3806228"/>
            <a:chOff x="0" y="0"/>
            <a:chExt cx="4445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11"/>
              <a:stretch>
                <a:fillRect l="-13011" t="0" r="-13011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028700" y="8930735"/>
            <a:ext cx="327565" cy="327565"/>
          </a:xfrm>
          <a:custGeom>
            <a:avLst/>
            <a:gdLst/>
            <a:ahLst/>
            <a:cxnLst/>
            <a:rect r="r" b="b" t="t" l="l"/>
            <a:pathLst>
              <a:path h="327565" w="327565">
                <a:moveTo>
                  <a:pt x="0" y="0"/>
                </a:moveTo>
                <a:lnTo>
                  <a:pt x="327565" y="0"/>
                </a:lnTo>
                <a:lnTo>
                  <a:pt x="327565" y="327565"/>
                </a:lnTo>
                <a:lnTo>
                  <a:pt x="0" y="3275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931735" y="8930735"/>
            <a:ext cx="327565" cy="327565"/>
          </a:xfrm>
          <a:custGeom>
            <a:avLst/>
            <a:gdLst/>
            <a:ahLst/>
            <a:cxnLst/>
            <a:rect r="r" b="b" t="t" l="l"/>
            <a:pathLst>
              <a:path h="327565" w="327565">
                <a:moveTo>
                  <a:pt x="0" y="0"/>
                </a:moveTo>
                <a:lnTo>
                  <a:pt x="327565" y="0"/>
                </a:lnTo>
                <a:lnTo>
                  <a:pt x="327565" y="327565"/>
                </a:lnTo>
                <a:lnTo>
                  <a:pt x="0" y="3275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378447" y="735752"/>
            <a:ext cx="169060" cy="169060"/>
          </a:xfrm>
          <a:custGeom>
            <a:avLst/>
            <a:gdLst/>
            <a:ahLst/>
            <a:cxnLst/>
            <a:rect r="r" b="b" t="t" l="l"/>
            <a:pathLst>
              <a:path h="169060" w="169060">
                <a:moveTo>
                  <a:pt x="0" y="0"/>
                </a:moveTo>
                <a:lnTo>
                  <a:pt x="169060" y="0"/>
                </a:lnTo>
                <a:lnTo>
                  <a:pt x="169060" y="169060"/>
                </a:lnTo>
                <a:lnTo>
                  <a:pt x="0" y="16906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890340" y="725604"/>
            <a:ext cx="9600533" cy="242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2547"/>
              </a:lnSpc>
              <a:spcBef>
                <a:spcPct val="0"/>
              </a:spcBef>
            </a:pPr>
            <a:r>
              <a:rPr lang="ar-EG" b="true" sz="8962" spc="-582">
                <a:solidFill>
                  <a:srgbClr val="C9FF72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نقش ها و مسئولیت ها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742113" y="552279"/>
            <a:ext cx="813226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78436" y="552279"/>
            <a:ext cx="751945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Home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67106" y="552279"/>
            <a:ext cx="928073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Services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86033" y="552279"/>
            <a:ext cx="923532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About Us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31904" y="552279"/>
            <a:ext cx="917404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42464" y="611864"/>
            <a:ext cx="416836" cy="416836"/>
          </a:xfrm>
          <a:custGeom>
            <a:avLst/>
            <a:gdLst/>
            <a:ahLst/>
            <a:cxnLst/>
            <a:rect r="r" b="b" t="t" l="l"/>
            <a:pathLst>
              <a:path h="416836" w="416836">
                <a:moveTo>
                  <a:pt x="0" y="0"/>
                </a:moveTo>
                <a:lnTo>
                  <a:pt x="416836" y="0"/>
                </a:lnTo>
                <a:lnTo>
                  <a:pt x="416836" y="416836"/>
                </a:lnTo>
                <a:lnTo>
                  <a:pt x="0" y="416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322447" y="5465447"/>
            <a:ext cx="9643106" cy="9643106"/>
          </a:xfrm>
          <a:custGeom>
            <a:avLst/>
            <a:gdLst/>
            <a:ahLst/>
            <a:cxnLst/>
            <a:rect r="r" b="b" t="t" l="l"/>
            <a:pathLst>
              <a:path h="9643106" w="9643106">
                <a:moveTo>
                  <a:pt x="0" y="0"/>
                </a:moveTo>
                <a:lnTo>
                  <a:pt x="9643106" y="0"/>
                </a:lnTo>
                <a:lnTo>
                  <a:pt x="9643106" y="9643106"/>
                </a:lnTo>
                <a:lnTo>
                  <a:pt x="0" y="9643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742113" y="552279"/>
            <a:ext cx="813226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Contact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78436" y="552279"/>
            <a:ext cx="751945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67106" y="552279"/>
            <a:ext cx="928073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Services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86033" y="552279"/>
            <a:ext cx="923532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About 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31904" y="552279"/>
            <a:ext cx="917404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7004" y="7379401"/>
            <a:ext cx="1987901" cy="140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b="true" sz="2799" spc="-181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BANKING ANYTIME, ANYWHERE.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378447" y="735752"/>
            <a:ext cx="169060" cy="169060"/>
          </a:xfrm>
          <a:custGeom>
            <a:avLst/>
            <a:gdLst/>
            <a:ahLst/>
            <a:cxnLst/>
            <a:rect r="r" b="b" t="t" l="l"/>
            <a:pathLst>
              <a:path h="169060" w="169060">
                <a:moveTo>
                  <a:pt x="0" y="0"/>
                </a:moveTo>
                <a:lnTo>
                  <a:pt x="169060" y="0"/>
                </a:lnTo>
                <a:lnTo>
                  <a:pt x="169060" y="169060"/>
                </a:lnTo>
                <a:lnTo>
                  <a:pt x="0" y="1690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4594940" y="6043415"/>
            <a:ext cx="2664360" cy="3806228"/>
            <a:chOff x="0" y="0"/>
            <a:chExt cx="4445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18571" t="0" r="-1857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130352" y="6208417"/>
            <a:ext cx="8037912" cy="3476224"/>
            <a:chOff x="0" y="0"/>
            <a:chExt cx="2071830" cy="8960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71830" cy="896022"/>
            </a:xfrm>
            <a:custGeom>
              <a:avLst/>
              <a:gdLst/>
              <a:ahLst/>
              <a:cxnLst/>
              <a:rect r="r" b="b" t="t" l="l"/>
              <a:pathLst>
                <a:path h="896022" w="2071830">
                  <a:moveTo>
                    <a:pt x="48159" y="0"/>
                  </a:moveTo>
                  <a:lnTo>
                    <a:pt x="2023671" y="0"/>
                  </a:lnTo>
                  <a:cubicBezTo>
                    <a:pt x="2050268" y="0"/>
                    <a:pt x="2071830" y="21561"/>
                    <a:pt x="2071830" y="48159"/>
                  </a:cubicBezTo>
                  <a:lnTo>
                    <a:pt x="2071830" y="847863"/>
                  </a:lnTo>
                  <a:cubicBezTo>
                    <a:pt x="2071830" y="874460"/>
                    <a:pt x="2050268" y="896022"/>
                    <a:pt x="2023671" y="896022"/>
                  </a:cubicBezTo>
                  <a:lnTo>
                    <a:pt x="48159" y="896022"/>
                  </a:lnTo>
                  <a:cubicBezTo>
                    <a:pt x="21561" y="896022"/>
                    <a:pt x="0" y="874460"/>
                    <a:pt x="0" y="847863"/>
                  </a:cubicBezTo>
                  <a:lnTo>
                    <a:pt x="0" y="48159"/>
                  </a:lnTo>
                  <a:cubicBezTo>
                    <a:pt x="0" y="21561"/>
                    <a:pt x="21561" y="0"/>
                    <a:pt x="4815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61925"/>
              <a:ext cx="2071830" cy="1057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520218" y="6089439"/>
            <a:ext cx="2313926" cy="1069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599"/>
              </a:lnSpc>
              <a:spcBef>
                <a:spcPct val="0"/>
              </a:spcBef>
            </a:pPr>
            <a:r>
              <a:rPr lang="ar-EG" b="true" sz="3999" spc="-159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هادی رضائی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594940" y="1659219"/>
            <a:ext cx="2664360" cy="3806228"/>
            <a:chOff x="0" y="0"/>
            <a:chExt cx="4445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9"/>
              <a:stretch>
                <a:fillRect l="0" t="-2739" r="0" b="-2739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130352" y="1824221"/>
            <a:ext cx="8037912" cy="3476224"/>
            <a:chOff x="0" y="0"/>
            <a:chExt cx="2071830" cy="89602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71830" cy="896022"/>
            </a:xfrm>
            <a:custGeom>
              <a:avLst/>
              <a:gdLst/>
              <a:ahLst/>
              <a:cxnLst/>
              <a:rect r="r" b="b" t="t" l="l"/>
              <a:pathLst>
                <a:path h="896022" w="2071830">
                  <a:moveTo>
                    <a:pt x="48159" y="0"/>
                  </a:moveTo>
                  <a:lnTo>
                    <a:pt x="2023671" y="0"/>
                  </a:lnTo>
                  <a:cubicBezTo>
                    <a:pt x="2050268" y="0"/>
                    <a:pt x="2071830" y="21561"/>
                    <a:pt x="2071830" y="48159"/>
                  </a:cubicBezTo>
                  <a:lnTo>
                    <a:pt x="2071830" y="847863"/>
                  </a:lnTo>
                  <a:cubicBezTo>
                    <a:pt x="2071830" y="874460"/>
                    <a:pt x="2050268" y="896022"/>
                    <a:pt x="2023671" y="896022"/>
                  </a:cubicBezTo>
                  <a:lnTo>
                    <a:pt x="48159" y="896022"/>
                  </a:lnTo>
                  <a:cubicBezTo>
                    <a:pt x="21561" y="896022"/>
                    <a:pt x="0" y="874460"/>
                    <a:pt x="0" y="847863"/>
                  </a:cubicBezTo>
                  <a:lnTo>
                    <a:pt x="0" y="48159"/>
                  </a:lnTo>
                  <a:cubicBezTo>
                    <a:pt x="0" y="21561"/>
                    <a:pt x="21561" y="0"/>
                    <a:pt x="4815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61925"/>
              <a:ext cx="2071830" cy="1057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516646" y="1743023"/>
            <a:ext cx="2361118" cy="1069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599"/>
              </a:lnSpc>
              <a:spcBef>
                <a:spcPct val="0"/>
              </a:spcBef>
            </a:pPr>
            <a:r>
              <a:rPr lang="ar-EG" b="true" sz="3999" spc="-159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ساحل امینی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22233" y="2690774"/>
            <a:ext cx="3742015" cy="9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  <a:spcBef>
                <a:spcPct val="0"/>
              </a:spcBef>
            </a:pPr>
            <a:r>
              <a:rPr lang="ar-EG" sz="3399" spc="-135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خوش برخورد ترین فرد تیم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895179" y="3482315"/>
            <a:ext cx="3455086" cy="9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  <a:spcBef>
                <a:spcPct val="0"/>
              </a:spcBef>
            </a:pPr>
            <a:r>
              <a:rPr lang="ar-EG" sz="3399" spc="-135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مستند سازی - تحقیقات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83982" y="3482315"/>
            <a:ext cx="1481570" cy="9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  <a:spcBef>
                <a:spcPct val="0"/>
              </a:spcBef>
            </a:pPr>
            <a:r>
              <a:rPr lang="ar-EG" sz="3399" spc="-135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مسئولیت: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346495" y="7035590"/>
            <a:ext cx="2531269" cy="9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  <a:spcBef>
                <a:spcPct val="0"/>
              </a:spcBef>
            </a:pPr>
            <a:r>
              <a:rPr lang="ar-EG" sz="3399" spc="-135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مدیر ترین فرد تیم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50265" y="7801359"/>
            <a:ext cx="1481570" cy="9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  <a:spcBef>
                <a:spcPct val="0"/>
              </a:spcBef>
            </a:pPr>
            <a:r>
              <a:rPr lang="ar-EG" sz="3399" spc="-135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مسئولیت: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727371" y="7801359"/>
            <a:ext cx="3517323" cy="9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  <a:spcBef>
                <a:spcPct val="0"/>
              </a:spcBef>
            </a:pPr>
            <a:r>
              <a:rPr lang="ar-EG" sz="3399" spc="-135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پروپوزال نویس-تحقیقات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1864"/>
            <a:ext cx="2704510" cy="416836"/>
            <a:chOff x="0" y="0"/>
            <a:chExt cx="712299" cy="10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299" cy="109784"/>
            </a:xfrm>
            <a:custGeom>
              <a:avLst/>
              <a:gdLst/>
              <a:ahLst/>
              <a:cxnLst/>
              <a:rect r="r" b="b" t="t" l="l"/>
              <a:pathLst>
                <a:path h="109784" w="712299">
                  <a:moveTo>
                    <a:pt x="54892" y="0"/>
                  </a:moveTo>
                  <a:lnTo>
                    <a:pt x="657407" y="0"/>
                  </a:lnTo>
                  <a:cubicBezTo>
                    <a:pt x="671965" y="0"/>
                    <a:pt x="685927" y="5783"/>
                    <a:pt x="696221" y="16077"/>
                  </a:cubicBezTo>
                  <a:cubicBezTo>
                    <a:pt x="706516" y="26372"/>
                    <a:pt x="712299" y="40334"/>
                    <a:pt x="712299" y="54892"/>
                  </a:cubicBezTo>
                  <a:lnTo>
                    <a:pt x="712299" y="54892"/>
                  </a:lnTo>
                  <a:cubicBezTo>
                    <a:pt x="712299" y="85208"/>
                    <a:pt x="687723" y="109784"/>
                    <a:pt x="657407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299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42464" y="611864"/>
            <a:ext cx="416836" cy="416836"/>
          </a:xfrm>
          <a:custGeom>
            <a:avLst/>
            <a:gdLst/>
            <a:ahLst/>
            <a:cxnLst/>
            <a:rect r="r" b="b" t="t" l="l"/>
            <a:pathLst>
              <a:path h="416836" w="416836">
                <a:moveTo>
                  <a:pt x="0" y="0"/>
                </a:moveTo>
                <a:lnTo>
                  <a:pt x="416836" y="0"/>
                </a:lnTo>
                <a:lnTo>
                  <a:pt x="416836" y="416836"/>
                </a:lnTo>
                <a:lnTo>
                  <a:pt x="0" y="416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58984" y="611864"/>
            <a:ext cx="1179483" cy="416836"/>
            <a:chOff x="0" y="0"/>
            <a:chExt cx="310646" cy="1097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0646" cy="109784"/>
            </a:xfrm>
            <a:custGeom>
              <a:avLst/>
              <a:gdLst/>
              <a:ahLst/>
              <a:cxnLst/>
              <a:rect r="r" b="b" t="t" l="l"/>
              <a:pathLst>
                <a:path h="109784" w="310646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191919"/>
            </a:solidFill>
            <a:ln w="9525" cap="rnd">
              <a:solidFill>
                <a:srgbClr val="5B5B5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322447" y="5465447"/>
            <a:ext cx="9643106" cy="9643106"/>
          </a:xfrm>
          <a:custGeom>
            <a:avLst/>
            <a:gdLst/>
            <a:ahLst/>
            <a:cxnLst/>
            <a:rect r="r" b="b" t="t" l="l"/>
            <a:pathLst>
              <a:path h="9643106" w="9643106">
                <a:moveTo>
                  <a:pt x="0" y="0"/>
                </a:moveTo>
                <a:lnTo>
                  <a:pt x="9643106" y="0"/>
                </a:lnTo>
                <a:lnTo>
                  <a:pt x="9643106" y="9643106"/>
                </a:lnTo>
                <a:lnTo>
                  <a:pt x="0" y="9643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742113" y="552279"/>
            <a:ext cx="813226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Contact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78436" y="552279"/>
            <a:ext cx="751945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C9FF72"/>
                </a:solidFill>
                <a:latin typeface="Nazanin Light"/>
                <a:ea typeface="Nazanin Light"/>
                <a:cs typeface="Nazanin Light"/>
                <a:sym typeface="Nazanin Light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67106" y="552279"/>
            <a:ext cx="928073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Services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86033" y="552279"/>
            <a:ext cx="923532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About 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31904" y="552279"/>
            <a:ext cx="917404" cy="37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56">
                <a:solidFill>
                  <a:srgbClr val="5B5B5B"/>
                </a:solidFill>
                <a:latin typeface="Nazanin Light"/>
                <a:ea typeface="Nazanin Light"/>
                <a:cs typeface="Nazanin Light"/>
                <a:sym typeface="Nazanin Light"/>
              </a:rPr>
              <a:t>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7004" y="7379401"/>
            <a:ext cx="1987901" cy="140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b="true" sz="2799" spc="-181">
                <a:solidFill>
                  <a:srgbClr val="191919"/>
                </a:solidFill>
                <a:latin typeface="Nazanin Bold"/>
                <a:ea typeface="Nazanin Bold"/>
                <a:cs typeface="Nazanin Bold"/>
                <a:sym typeface="Nazanin Bold"/>
              </a:rPr>
              <a:t>BANKING ANYTIME, ANYWHERE.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378447" y="735752"/>
            <a:ext cx="169060" cy="169060"/>
          </a:xfrm>
          <a:custGeom>
            <a:avLst/>
            <a:gdLst/>
            <a:ahLst/>
            <a:cxnLst/>
            <a:rect r="r" b="b" t="t" l="l"/>
            <a:pathLst>
              <a:path h="169060" w="169060">
                <a:moveTo>
                  <a:pt x="0" y="0"/>
                </a:moveTo>
                <a:lnTo>
                  <a:pt x="169060" y="0"/>
                </a:lnTo>
                <a:lnTo>
                  <a:pt x="169060" y="169060"/>
                </a:lnTo>
                <a:lnTo>
                  <a:pt x="0" y="1690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4594940" y="6043415"/>
            <a:ext cx="2664360" cy="3806228"/>
            <a:chOff x="0" y="0"/>
            <a:chExt cx="4445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10909" t="0" r="-10909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130352" y="6208417"/>
            <a:ext cx="8037912" cy="3476224"/>
            <a:chOff x="0" y="0"/>
            <a:chExt cx="2071830" cy="8960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71830" cy="896022"/>
            </a:xfrm>
            <a:custGeom>
              <a:avLst/>
              <a:gdLst/>
              <a:ahLst/>
              <a:cxnLst/>
              <a:rect r="r" b="b" t="t" l="l"/>
              <a:pathLst>
                <a:path h="896022" w="2071830">
                  <a:moveTo>
                    <a:pt x="48159" y="0"/>
                  </a:moveTo>
                  <a:lnTo>
                    <a:pt x="2023671" y="0"/>
                  </a:lnTo>
                  <a:cubicBezTo>
                    <a:pt x="2050268" y="0"/>
                    <a:pt x="2071830" y="21561"/>
                    <a:pt x="2071830" y="48159"/>
                  </a:cubicBezTo>
                  <a:lnTo>
                    <a:pt x="2071830" y="847863"/>
                  </a:lnTo>
                  <a:cubicBezTo>
                    <a:pt x="2071830" y="874460"/>
                    <a:pt x="2050268" y="896022"/>
                    <a:pt x="2023671" y="896022"/>
                  </a:cubicBezTo>
                  <a:lnTo>
                    <a:pt x="48159" y="896022"/>
                  </a:lnTo>
                  <a:cubicBezTo>
                    <a:pt x="21561" y="896022"/>
                    <a:pt x="0" y="874460"/>
                    <a:pt x="0" y="847863"/>
                  </a:cubicBezTo>
                  <a:lnTo>
                    <a:pt x="0" y="48159"/>
                  </a:lnTo>
                  <a:cubicBezTo>
                    <a:pt x="0" y="21561"/>
                    <a:pt x="21561" y="0"/>
                    <a:pt x="4815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61925"/>
              <a:ext cx="2071830" cy="1057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671427" y="6156114"/>
            <a:ext cx="1989210" cy="9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  <a:spcBef>
                <a:spcPct val="0"/>
              </a:spcBef>
            </a:pPr>
            <a:r>
              <a:rPr lang="ar-EG" b="true" sz="3399" spc="-135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بردیا فقیه نیا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594940" y="1659219"/>
            <a:ext cx="2664360" cy="3806228"/>
            <a:chOff x="0" y="0"/>
            <a:chExt cx="4445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9"/>
              <a:stretch>
                <a:fillRect l="-12987" t="0" r="-12987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130352" y="1824221"/>
            <a:ext cx="8037912" cy="3476224"/>
            <a:chOff x="0" y="0"/>
            <a:chExt cx="2071830" cy="89602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71830" cy="896022"/>
            </a:xfrm>
            <a:custGeom>
              <a:avLst/>
              <a:gdLst/>
              <a:ahLst/>
              <a:cxnLst/>
              <a:rect r="r" b="b" t="t" l="l"/>
              <a:pathLst>
                <a:path h="896022" w="2071830">
                  <a:moveTo>
                    <a:pt x="48159" y="0"/>
                  </a:moveTo>
                  <a:lnTo>
                    <a:pt x="2023671" y="0"/>
                  </a:lnTo>
                  <a:cubicBezTo>
                    <a:pt x="2050268" y="0"/>
                    <a:pt x="2071830" y="21561"/>
                    <a:pt x="2071830" y="48159"/>
                  </a:cubicBezTo>
                  <a:lnTo>
                    <a:pt x="2071830" y="847863"/>
                  </a:lnTo>
                  <a:cubicBezTo>
                    <a:pt x="2071830" y="874460"/>
                    <a:pt x="2050268" y="896022"/>
                    <a:pt x="2023671" y="896022"/>
                  </a:cubicBezTo>
                  <a:lnTo>
                    <a:pt x="48159" y="896022"/>
                  </a:lnTo>
                  <a:cubicBezTo>
                    <a:pt x="21561" y="896022"/>
                    <a:pt x="0" y="874460"/>
                    <a:pt x="0" y="847863"/>
                  </a:cubicBezTo>
                  <a:lnTo>
                    <a:pt x="0" y="48159"/>
                  </a:lnTo>
                  <a:cubicBezTo>
                    <a:pt x="0" y="21561"/>
                    <a:pt x="21561" y="0"/>
                    <a:pt x="4815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61925"/>
              <a:ext cx="2071830" cy="1057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864183" y="1838353"/>
            <a:ext cx="2796453" cy="9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  <a:spcBef>
                <a:spcPct val="0"/>
              </a:spcBef>
            </a:pPr>
            <a:r>
              <a:rPr lang="ar-EG" b="true" sz="3399" spc="-135">
                <a:solidFill>
                  <a:srgbClr val="000000"/>
                </a:solidFill>
                <a:latin typeface="Nazanin Bold"/>
                <a:ea typeface="Nazanin Bold"/>
                <a:cs typeface="Nazanin Bold"/>
                <a:sym typeface="Nazanin Bold"/>
                <a:rtl val="true"/>
              </a:rPr>
              <a:t>غزل اصغری مقدم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163771" y="2659222"/>
            <a:ext cx="3496866" cy="9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  <a:spcBef>
                <a:spcPct val="0"/>
              </a:spcBef>
            </a:pPr>
            <a:r>
              <a:rPr lang="ar-EG" sz="3399" spc="-135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تصمیم گیرنده نهایی تیم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44545" y="3480091"/>
            <a:ext cx="3346522" cy="9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  <a:spcBef>
                <a:spcPct val="0"/>
              </a:spcBef>
            </a:pPr>
            <a:r>
              <a:rPr lang="ar-EG" sz="3399" spc="-135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طراحی و کد - تحقیقات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79066" y="3480091"/>
            <a:ext cx="1481570" cy="9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  <a:spcBef>
                <a:spcPct val="0"/>
              </a:spcBef>
            </a:pPr>
            <a:r>
              <a:rPr lang="ar-EG" sz="3399" spc="-135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مسئولیت: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205027" y="7032763"/>
            <a:ext cx="2455610" cy="9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  <a:spcBef>
                <a:spcPct val="0"/>
              </a:spcBef>
            </a:pPr>
            <a:r>
              <a:rPr lang="ar-EG" sz="3399" spc="-135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فنی ترین فرد تیم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79066" y="7871525"/>
            <a:ext cx="1481570" cy="9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  <a:spcBef>
                <a:spcPct val="0"/>
              </a:spcBef>
            </a:pPr>
            <a:r>
              <a:rPr lang="ar-EG" sz="3399" spc="-135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مسئولیت: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644545" y="7801359"/>
            <a:ext cx="3346522" cy="91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59"/>
              </a:lnSpc>
              <a:spcBef>
                <a:spcPct val="0"/>
              </a:spcBef>
            </a:pPr>
            <a:r>
              <a:rPr lang="ar-EG" sz="3399" spc="-135">
                <a:solidFill>
                  <a:srgbClr val="000000"/>
                </a:solidFill>
                <a:latin typeface="Nazanin Light"/>
                <a:ea typeface="Nazanin Light"/>
                <a:cs typeface="Nazanin Light"/>
                <a:sym typeface="Nazanin Light"/>
                <a:rtl val="true"/>
              </a:rPr>
              <a:t>طراحی و کد - تحقیقات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6307852"/>
            <a:chOff x="0" y="0"/>
            <a:chExt cx="4816593" cy="1661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661327"/>
            </a:xfrm>
            <a:custGeom>
              <a:avLst/>
              <a:gdLst/>
              <a:ahLst/>
              <a:cxnLst/>
              <a:rect r="r" b="b" t="t" l="l"/>
              <a:pathLst>
                <a:path h="166132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61327"/>
                  </a:lnTo>
                  <a:lnTo>
                    <a:pt x="0" y="1661327"/>
                  </a:lnTo>
                  <a:close/>
                </a:path>
              </a:pathLst>
            </a:custGeom>
            <a:solidFill>
              <a:srgbClr val="C9FF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85775"/>
              <a:ext cx="4816593" cy="2147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>
                <a:lnSpc>
                  <a:spcPts val="5739"/>
                </a:lnSpc>
              </a:pPr>
              <a:r>
                <a:rPr lang="ar-EG" b="true" sz="4099" spc="-163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مواردی که مفصل تر بودن از طریق این لینک قابل دسترسی هستند.</a:t>
              </a:r>
            </a:p>
            <a:p>
              <a:pPr algn="ctr" rtl="true">
                <a:lnSpc>
                  <a:spcPts val="5739"/>
                </a:lnSpc>
              </a:pPr>
              <a:r>
                <a:rPr lang="ar-EG" b="true" sz="4099" spc="-163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این لینک شامل موارد زیر می باشد: </a:t>
              </a:r>
              <a:r>
                <a:rPr lang="en-US" b="true" sz="4099" spc="-163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</a:rPr>
                <a:t>1</a:t>
              </a:r>
              <a:r>
                <a:rPr lang="ar-EG" b="true" sz="4099" spc="-163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_پی دی اف توضیح هوش مصنوعی های استفاده شده و کاربرد آنها </a:t>
              </a:r>
            </a:p>
            <a:p>
              <a:pPr algn="ctr" rtl="true">
                <a:lnSpc>
                  <a:spcPts val="5739"/>
                </a:lnSpc>
              </a:pPr>
              <a:r>
                <a:rPr lang="en-US" b="true" sz="4099" spc="-163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</a:rPr>
                <a:t>2</a:t>
              </a:r>
              <a:r>
                <a:rPr lang="ar-EG" b="true" sz="4099" spc="-163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_به همراه چالش هایی که در طراحی </a:t>
              </a:r>
              <a:r>
                <a:rPr lang="en-US" b="true" sz="4099" spc="-163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</a:rPr>
                <a:t>UI</a:t>
              </a:r>
              <a:r>
                <a:rPr lang="ar-EG" b="true" sz="4099" spc="-163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 و </a:t>
              </a:r>
              <a:r>
                <a:rPr lang="en-US" b="true" sz="4099" spc="-163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</a:rPr>
                <a:t>UX</a:t>
              </a:r>
              <a:r>
                <a:rPr lang="ar-EG" b="true" sz="4099" spc="-163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 پروژه با آنها مواجه شدیم همراه روش و فرایند حل آنها با کمک هوش مصنوعی</a:t>
              </a:r>
            </a:p>
            <a:p>
              <a:pPr algn="ctr" rtl="true">
                <a:lnSpc>
                  <a:spcPts val="5739"/>
                </a:lnSpc>
              </a:pPr>
            </a:p>
            <a:p>
              <a:pPr algn="ctr" rtl="true">
                <a:lnSpc>
                  <a:spcPts val="5739"/>
                </a:lnSpc>
              </a:pPr>
            </a:p>
            <a:p>
              <a:pPr algn="ctr" rtl="true">
                <a:lnSpc>
                  <a:spcPts val="5739"/>
                </a:lnSpc>
              </a:pPr>
              <a:r>
                <a:rPr lang="en-US" b="true" sz="4099" spc="-163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</a:rPr>
                <a:t>https://drive.google.com/folderview?id=1mzc8iOEWronp1Ucgf5dcoV4RdI7vWiwK</a:t>
              </a:r>
              <a:r>
                <a:rPr lang="ar-EG" b="true" sz="4099" spc="-163">
                  <a:solidFill>
                    <a:srgbClr val="000000"/>
                  </a:solidFill>
                  <a:latin typeface="Nazanin Bold"/>
                  <a:ea typeface="Nazanin Bold"/>
                  <a:cs typeface="Nazanin Bold"/>
                  <a:sym typeface="Nazanin Bold"/>
                  <a:rtl val="true"/>
                </a:rPr>
                <a:t>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DAG8pIiuq2I</dc:identifier>
  <dcterms:modified xsi:type="dcterms:W3CDTF">2011-08-01T06:04:30Z</dcterms:modified>
  <cp:revision>1</cp:revision>
  <dc:title>Green and Black Modern Gradient Digital Bank Presentation</dc:title>
</cp:coreProperties>
</file>